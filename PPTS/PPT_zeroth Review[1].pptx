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Italics" panose="020B0604020202020204" charset="0"/>
      <p:regular r:id="rId14"/>
    </p:embeddedFont>
    <p:embeddedFont>
      <p:font typeface="Petrona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2238" y="1826865"/>
            <a:ext cx="16303526" cy="916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5812" dirty="0" err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TraffiQ</a:t>
            </a:r>
            <a:endParaRPr lang="en-US" sz="5812" dirty="0">
              <a:solidFill>
                <a:srgbClr val="FF8AAF"/>
              </a:solidFill>
              <a:latin typeface="Petrona"/>
              <a:ea typeface="Petrona"/>
              <a:cs typeface="Petrona"/>
              <a:sym typeface="Petron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4414689"/>
            <a:ext cx="16303526" cy="6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SDG Mapping: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SDG 11 – Sustainable Cities and Communities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207139"/>
            <a:ext cx="16303526" cy="53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Department of Computing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002625"/>
            <a:ext cx="16303526" cy="6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Institute: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SRM Institute of Science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798111"/>
            <a:ext cx="16303526" cy="6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Course:</a:t>
            </a: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21CSP302L - Minor Project Zeroth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07108" y="674638"/>
            <a:ext cx="6803380" cy="88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Abstract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02345" y="2076450"/>
            <a:ext cx="592634" cy="592634"/>
            <a:chOff x="0" y="0"/>
            <a:chExt cx="790178" cy="790178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777494" cy="777494"/>
            </a:xfrm>
            <a:custGeom>
              <a:avLst/>
              <a:gdLst/>
              <a:ahLst/>
              <a:cxnLst/>
              <a:rect l="l" t="t" r="r" b="b"/>
              <a:pathLst>
                <a:path w="777494" h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790194" cy="790194"/>
            </a:xfrm>
            <a:custGeom>
              <a:avLst/>
              <a:gdLst/>
              <a:ahLst/>
              <a:cxnLst/>
              <a:rect l="l" t="t" r="r" b="b"/>
              <a:pathLst>
                <a:path w="790194" h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49326" y="2141636"/>
            <a:ext cx="4524375" cy="45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Traffic Congestion Challenge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9326" y="2665065"/>
            <a:ext cx="15631566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Traffic congestion causes delays, fuel waste, and emissions in urban areas.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2345" y="3678734"/>
            <a:ext cx="592634" cy="592634"/>
            <a:chOff x="0" y="0"/>
            <a:chExt cx="790178" cy="790178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777494" cy="777494"/>
            </a:xfrm>
            <a:custGeom>
              <a:avLst/>
              <a:gdLst/>
              <a:ahLst/>
              <a:cxnLst/>
              <a:rect l="l" t="t" r="r" b="b"/>
              <a:pathLst>
                <a:path w="777494" h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90194" cy="790194"/>
            </a:xfrm>
            <a:custGeom>
              <a:avLst/>
              <a:gdLst/>
              <a:ahLst/>
              <a:cxnLst/>
              <a:rect l="l" t="t" r="r" b="b"/>
              <a:pathLst>
                <a:path w="790194" h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49326" y="3743920"/>
            <a:ext cx="4873675" cy="45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Traditional System Limitations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9326" y="4267349"/>
            <a:ext cx="15631566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Traditional signal systems use fixed cycles, lacking adaptability to real-time traffic conditions.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2345" y="5281017"/>
            <a:ext cx="592634" cy="592634"/>
            <a:chOff x="0" y="0"/>
            <a:chExt cx="790178" cy="790178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77494" cy="777494"/>
            </a:xfrm>
            <a:custGeom>
              <a:avLst/>
              <a:gdLst/>
              <a:ahLst/>
              <a:cxnLst/>
              <a:rect l="l" t="t" r="r" b="b"/>
              <a:pathLst>
                <a:path w="777494" h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790194" cy="790194"/>
            </a:xfrm>
            <a:custGeom>
              <a:avLst/>
              <a:gdLst/>
              <a:ahLst/>
              <a:cxnLst/>
              <a:rect l="l" t="t" r="r" b="b"/>
              <a:pathLst>
                <a:path w="790194" h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49326" y="5346204"/>
            <a:ext cx="3401616" cy="45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RL-Based Solution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9326" y="5869633"/>
            <a:ext cx="15631566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This project uses Reinforcement Learning (RL) to optimize signal timing dynamically.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2345" y="6883301"/>
            <a:ext cx="592634" cy="592634"/>
            <a:chOff x="0" y="0"/>
            <a:chExt cx="790178" cy="790178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777494" cy="777494"/>
            </a:xfrm>
            <a:custGeom>
              <a:avLst/>
              <a:gdLst/>
              <a:ahLst/>
              <a:cxnLst/>
              <a:rect l="l" t="t" r="r" b="b"/>
              <a:pathLst>
                <a:path w="777494" h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790194" cy="790194"/>
            </a:xfrm>
            <a:custGeom>
              <a:avLst/>
              <a:gdLst/>
              <a:ahLst/>
              <a:cxnLst/>
              <a:rect l="l" t="t" r="r" b="b"/>
              <a:pathLst>
                <a:path w="790194" h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49326" y="6948487"/>
            <a:ext cx="4007198" cy="45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Implementation Platform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49326" y="7471916"/>
            <a:ext cx="15631566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Implemented in SUMO simulator with Python + PyTorch for robust performance.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02345" y="8485585"/>
            <a:ext cx="592634" cy="592634"/>
            <a:chOff x="0" y="0"/>
            <a:chExt cx="790178" cy="790178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777494" cy="777494"/>
            </a:xfrm>
            <a:custGeom>
              <a:avLst/>
              <a:gdLst/>
              <a:ahLst/>
              <a:cxnLst/>
              <a:rect l="l" t="t" r="r" b="b"/>
              <a:pathLst>
                <a:path w="777494" h="777494">
                  <a:moveTo>
                    <a:pt x="0" y="145161"/>
                  </a:moveTo>
                  <a:cubicBezTo>
                    <a:pt x="0" y="65024"/>
                    <a:pt x="65024" y="0"/>
                    <a:pt x="145161" y="0"/>
                  </a:cubicBezTo>
                  <a:lnTo>
                    <a:pt x="632333" y="0"/>
                  </a:lnTo>
                  <a:cubicBezTo>
                    <a:pt x="712470" y="0"/>
                    <a:pt x="777494" y="65024"/>
                    <a:pt x="777494" y="145161"/>
                  </a:cubicBezTo>
                  <a:lnTo>
                    <a:pt x="777494" y="632333"/>
                  </a:lnTo>
                  <a:cubicBezTo>
                    <a:pt x="777494" y="712470"/>
                    <a:pt x="712470" y="777494"/>
                    <a:pt x="632333" y="777494"/>
                  </a:cubicBezTo>
                  <a:lnTo>
                    <a:pt x="145161" y="777494"/>
                  </a:lnTo>
                  <a:cubicBezTo>
                    <a:pt x="65024" y="777494"/>
                    <a:pt x="0" y="712470"/>
                    <a:pt x="0" y="632333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790194" cy="790194"/>
            </a:xfrm>
            <a:custGeom>
              <a:avLst/>
              <a:gdLst/>
              <a:ahLst/>
              <a:cxnLst/>
              <a:rect l="l" t="t" r="r" b="b"/>
              <a:pathLst>
                <a:path w="790194" h="790194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638683" y="0"/>
                  </a:lnTo>
                  <a:lnTo>
                    <a:pt x="638683" y="6350"/>
                  </a:lnTo>
                  <a:lnTo>
                    <a:pt x="638683" y="0"/>
                  </a:lnTo>
                  <a:cubicBezTo>
                    <a:pt x="722376" y="0"/>
                    <a:pt x="790194" y="67818"/>
                    <a:pt x="790194" y="151511"/>
                  </a:cubicBezTo>
                  <a:lnTo>
                    <a:pt x="783844" y="151511"/>
                  </a:lnTo>
                  <a:lnTo>
                    <a:pt x="790194" y="151511"/>
                  </a:lnTo>
                  <a:lnTo>
                    <a:pt x="790194" y="638683"/>
                  </a:lnTo>
                  <a:lnTo>
                    <a:pt x="783844" y="638683"/>
                  </a:lnTo>
                  <a:lnTo>
                    <a:pt x="790194" y="638683"/>
                  </a:lnTo>
                  <a:cubicBezTo>
                    <a:pt x="790194" y="722376"/>
                    <a:pt x="722376" y="790194"/>
                    <a:pt x="638683" y="790194"/>
                  </a:cubicBezTo>
                  <a:lnTo>
                    <a:pt x="638683" y="783844"/>
                  </a:lnTo>
                  <a:lnTo>
                    <a:pt x="638683" y="790194"/>
                  </a:lnTo>
                  <a:lnTo>
                    <a:pt x="151511" y="790194"/>
                  </a:lnTo>
                  <a:lnTo>
                    <a:pt x="151511" y="783844"/>
                  </a:lnTo>
                  <a:lnTo>
                    <a:pt x="151511" y="790194"/>
                  </a:lnTo>
                  <a:cubicBezTo>
                    <a:pt x="67818" y="790194"/>
                    <a:pt x="0" y="722376"/>
                    <a:pt x="0" y="638683"/>
                  </a:cubicBezTo>
                  <a:lnTo>
                    <a:pt x="0" y="151511"/>
                  </a:lnTo>
                  <a:lnTo>
                    <a:pt x="6350" y="151511"/>
                  </a:lnTo>
                  <a:lnTo>
                    <a:pt x="0" y="151511"/>
                  </a:lnTo>
                  <a:moveTo>
                    <a:pt x="12700" y="151511"/>
                  </a:moveTo>
                  <a:lnTo>
                    <a:pt x="12700" y="638683"/>
                  </a:lnTo>
                  <a:lnTo>
                    <a:pt x="6350" y="638683"/>
                  </a:lnTo>
                  <a:lnTo>
                    <a:pt x="12700" y="638683"/>
                  </a:lnTo>
                  <a:cubicBezTo>
                    <a:pt x="12700" y="715391"/>
                    <a:pt x="74803" y="777494"/>
                    <a:pt x="151511" y="777494"/>
                  </a:cubicBezTo>
                  <a:lnTo>
                    <a:pt x="638683" y="777494"/>
                  </a:lnTo>
                  <a:cubicBezTo>
                    <a:pt x="715391" y="777494"/>
                    <a:pt x="777494" y="715391"/>
                    <a:pt x="777494" y="638683"/>
                  </a:cubicBezTo>
                  <a:lnTo>
                    <a:pt x="777494" y="151511"/>
                  </a:lnTo>
                  <a:cubicBezTo>
                    <a:pt x="777494" y="74803"/>
                    <a:pt x="715391" y="12700"/>
                    <a:pt x="638683" y="12700"/>
                  </a:cubicBezTo>
                  <a:lnTo>
                    <a:pt x="151511" y="12700"/>
                  </a:lnTo>
                  <a:lnTo>
                    <a:pt x="151511" y="6350"/>
                  </a:lnTo>
                  <a:lnTo>
                    <a:pt x="151511" y="12700"/>
                  </a:lnTo>
                  <a:cubicBezTo>
                    <a:pt x="74803" y="12700"/>
                    <a:pt x="12700" y="74803"/>
                    <a:pt x="12700" y="1515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749326" y="8550771"/>
            <a:ext cx="3401616" cy="45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Project Outcomes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49326" y="9074200"/>
            <a:ext cx="15631566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Aims to reduce waiting time, congestion, and emissions through smarter, adaptive, and sustainable urban traffic management.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5125700" y="9513666"/>
            <a:ext cx="3086100" cy="768288"/>
            <a:chOff x="0" y="0"/>
            <a:chExt cx="812800" cy="2023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8469" y="919311"/>
            <a:ext cx="6364040" cy="83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Literature Survey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3706" y="2233018"/>
            <a:ext cx="16600586" cy="4602659"/>
            <a:chOff x="0" y="0"/>
            <a:chExt cx="22134115" cy="61368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34195" cy="6136894"/>
            </a:xfrm>
            <a:custGeom>
              <a:avLst/>
              <a:gdLst/>
              <a:ahLst/>
              <a:cxnLst/>
              <a:rect l="l" t="t" r="r" b="b"/>
              <a:pathLst>
                <a:path w="22134195" h="6136894">
                  <a:moveTo>
                    <a:pt x="0" y="142113"/>
                  </a:moveTo>
                  <a:cubicBezTo>
                    <a:pt x="0" y="63627"/>
                    <a:pt x="63754" y="0"/>
                    <a:pt x="142367" y="0"/>
                  </a:cubicBezTo>
                  <a:lnTo>
                    <a:pt x="21991828" y="0"/>
                  </a:lnTo>
                  <a:lnTo>
                    <a:pt x="21991828" y="6350"/>
                  </a:lnTo>
                  <a:lnTo>
                    <a:pt x="21991828" y="0"/>
                  </a:lnTo>
                  <a:cubicBezTo>
                    <a:pt x="22070442" y="0"/>
                    <a:pt x="22134195" y="63627"/>
                    <a:pt x="22134195" y="142113"/>
                  </a:cubicBezTo>
                  <a:lnTo>
                    <a:pt x="22127845" y="142113"/>
                  </a:lnTo>
                  <a:lnTo>
                    <a:pt x="22134195" y="142113"/>
                  </a:lnTo>
                  <a:lnTo>
                    <a:pt x="22134195" y="5994781"/>
                  </a:lnTo>
                  <a:lnTo>
                    <a:pt x="22127845" y="5994781"/>
                  </a:lnTo>
                  <a:lnTo>
                    <a:pt x="22134195" y="5994781"/>
                  </a:lnTo>
                  <a:cubicBezTo>
                    <a:pt x="22134195" y="6073267"/>
                    <a:pt x="22070442" y="6136894"/>
                    <a:pt x="21991828" y="6136894"/>
                  </a:cubicBezTo>
                  <a:lnTo>
                    <a:pt x="21991828" y="6130544"/>
                  </a:lnTo>
                  <a:lnTo>
                    <a:pt x="21991828" y="6136894"/>
                  </a:lnTo>
                  <a:lnTo>
                    <a:pt x="142367" y="6136894"/>
                  </a:lnTo>
                  <a:lnTo>
                    <a:pt x="142367" y="6130544"/>
                  </a:lnTo>
                  <a:lnTo>
                    <a:pt x="142367" y="6136894"/>
                  </a:lnTo>
                  <a:cubicBezTo>
                    <a:pt x="63754" y="6136894"/>
                    <a:pt x="0" y="6073267"/>
                    <a:pt x="0" y="5994781"/>
                  </a:cubicBezTo>
                  <a:lnTo>
                    <a:pt x="0" y="142113"/>
                  </a:lnTo>
                  <a:lnTo>
                    <a:pt x="6350" y="142113"/>
                  </a:lnTo>
                  <a:lnTo>
                    <a:pt x="0" y="142113"/>
                  </a:lnTo>
                  <a:moveTo>
                    <a:pt x="12700" y="142113"/>
                  </a:moveTo>
                  <a:lnTo>
                    <a:pt x="12700" y="5994781"/>
                  </a:lnTo>
                  <a:lnTo>
                    <a:pt x="6350" y="5994781"/>
                  </a:lnTo>
                  <a:lnTo>
                    <a:pt x="12700" y="5994781"/>
                  </a:lnTo>
                  <a:cubicBezTo>
                    <a:pt x="12700" y="6066282"/>
                    <a:pt x="70739" y="6124194"/>
                    <a:pt x="142367" y="6124194"/>
                  </a:cubicBezTo>
                  <a:lnTo>
                    <a:pt x="21991828" y="6124194"/>
                  </a:lnTo>
                  <a:cubicBezTo>
                    <a:pt x="22063456" y="6124194"/>
                    <a:pt x="22121495" y="6066282"/>
                    <a:pt x="22121495" y="5994781"/>
                  </a:cubicBezTo>
                  <a:lnTo>
                    <a:pt x="22121495" y="142113"/>
                  </a:lnTo>
                  <a:cubicBezTo>
                    <a:pt x="22121495" y="70612"/>
                    <a:pt x="22063456" y="12700"/>
                    <a:pt x="21991828" y="12700"/>
                  </a:cubicBezTo>
                  <a:lnTo>
                    <a:pt x="142367" y="12700"/>
                  </a:lnTo>
                  <a:lnTo>
                    <a:pt x="142367" y="6350"/>
                  </a:lnTo>
                  <a:lnTo>
                    <a:pt x="142367" y="12700"/>
                  </a:lnTo>
                  <a:cubicBezTo>
                    <a:pt x="70739" y="12700"/>
                    <a:pt x="12700" y="70612"/>
                    <a:pt x="12700" y="142113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7994" y="2247305"/>
            <a:ext cx="16572011" cy="697706"/>
            <a:chOff x="0" y="0"/>
            <a:chExt cx="22096015" cy="9302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5968" cy="930275"/>
            </a:xfrm>
            <a:custGeom>
              <a:avLst/>
              <a:gdLst/>
              <a:ahLst/>
              <a:cxnLst/>
              <a:rect l="l" t="t" r="r" b="b"/>
              <a:pathLst>
                <a:path w="22095968" h="930275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0732" y="2326035"/>
            <a:ext cx="3653284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Paper Title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48424" y="2326035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Year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34151" y="2326035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Method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77080" y="2326035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Gaps Identified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7994" y="2945011"/>
            <a:ext cx="16572011" cy="697706"/>
            <a:chOff x="0" y="0"/>
            <a:chExt cx="22096015" cy="9302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95968" cy="930275"/>
            </a:xfrm>
            <a:custGeom>
              <a:avLst/>
              <a:gdLst/>
              <a:ahLst/>
              <a:cxnLst/>
              <a:rect l="l" t="t" r="r" b="b"/>
              <a:pathLst>
                <a:path w="22095968" h="930275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00732" y="3023741"/>
            <a:ext cx="3653284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RL-Based Traffic Signal Control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48424" y="3023741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151" y="3023741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Q-Learning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77080" y="3023741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Limited to 2-way intersections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57994" y="3642718"/>
            <a:ext cx="16572011" cy="1085552"/>
            <a:chOff x="0" y="0"/>
            <a:chExt cx="22096015" cy="14474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095968" cy="1447419"/>
            </a:xfrm>
            <a:custGeom>
              <a:avLst/>
              <a:gdLst/>
              <a:ahLst/>
              <a:cxnLst/>
              <a:rect l="l" t="t" r="r" b="b"/>
              <a:pathLst>
                <a:path w="22095968" h="1447419">
                  <a:moveTo>
                    <a:pt x="0" y="0"/>
                  </a:moveTo>
                  <a:lnTo>
                    <a:pt x="22095968" y="0"/>
                  </a:lnTo>
                  <a:lnTo>
                    <a:pt x="22095968" y="1447419"/>
                  </a:lnTo>
                  <a:lnTo>
                    <a:pt x="0" y="14474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0732" y="3721448"/>
            <a:ext cx="3653284" cy="85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Deep Q-Network for Adaptive Control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48424" y="3721448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34151" y="3721448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DQN on SUMO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77080" y="3721448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No emergency vehicle handling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57994" y="4728270"/>
            <a:ext cx="16572011" cy="697706"/>
            <a:chOff x="0" y="0"/>
            <a:chExt cx="22096015" cy="9302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095968" cy="930275"/>
            </a:xfrm>
            <a:custGeom>
              <a:avLst/>
              <a:gdLst/>
              <a:ahLst/>
              <a:cxnLst/>
              <a:rect l="l" t="t" r="r" b="b"/>
              <a:pathLst>
                <a:path w="22095968" h="930275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00732" y="4807000"/>
            <a:ext cx="3653284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Multi-Agent RL for Smart Traffic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48424" y="4807000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34151" y="4807000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MARL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7080" y="4807000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Coordination complexity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57994" y="5425976"/>
            <a:ext cx="16572011" cy="697706"/>
            <a:chOff x="0" y="0"/>
            <a:chExt cx="22096015" cy="9302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095968" cy="930275"/>
            </a:xfrm>
            <a:custGeom>
              <a:avLst/>
              <a:gdLst/>
              <a:ahLst/>
              <a:cxnLst/>
              <a:rect l="l" t="t" r="r" b="b"/>
              <a:pathLst>
                <a:path w="22095968" h="930275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00732" y="5504706"/>
            <a:ext cx="3653284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IoT + RL for Real-Time Control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48424" y="5504706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34151" y="5504706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IoT + RL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77080" y="5504706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Sparse data handling issues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857994" y="6123682"/>
            <a:ext cx="16572011" cy="697706"/>
            <a:chOff x="0" y="0"/>
            <a:chExt cx="22096015" cy="93027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2095968" cy="930275"/>
            </a:xfrm>
            <a:custGeom>
              <a:avLst/>
              <a:gdLst/>
              <a:ahLst/>
              <a:cxnLst/>
              <a:rect l="l" t="t" r="r" b="b"/>
              <a:pathLst>
                <a:path w="22095968" h="930275">
                  <a:moveTo>
                    <a:pt x="0" y="0"/>
                  </a:moveTo>
                  <a:lnTo>
                    <a:pt x="22095968" y="0"/>
                  </a:lnTo>
                  <a:lnTo>
                    <a:pt x="22095968" y="930275"/>
                  </a:lnTo>
                  <a:lnTo>
                    <a:pt x="0" y="930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00732" y="6202412"/>
            <a:ext cx="3653284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Dynamic PPO Optimization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48424" y="6202412"/>
            <a:ext cx="1991320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34151" y="6202412"/>
            <a:ext cx="364852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PPO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877080" y="6202412"/>
            <a:ext cx="5310485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Single-junction focus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848469" y="7224750"/>
            <a:ext cx="16591061" cy="39737"/>
            <a:chOff x="0" y="0"/>
            <a:chExt cx="22121415" cy="5298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121368" cy="52959"/>
            </a:xfrm>
            <a:custGeom>
              <a:avLst/>
              <a:gdLst/>
              <a:ahLst/>
              <a:cxnLst/>
              <a:rect l="l" t="t" r="r" b="b"/>
              <a:pathLst>
                <a:path w="22121368" h="52959">
                  <a:moveTo>
                    <a:pt x="0" y="0"/>
                  </a:moveTo>
                  <a:lnTo>
                    <a:pt x="22121368" y="0"/>
                  </a:lnTo>
                  <a:lnTo>
                    <a:pt x="22121368" y="52959"/>
                  </a:lnTo>
                  <a:lnTo>
                    <a:pt x="0" y="52959"/>
                  </a:lnTo>
                  <a:close/>
                </a:path>
              </a:pathLst>
            </a:custGeom>
            <a:solidFill>
              <a:srgbClr val="E0D6DE">
                <a:alpha val="2470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848469" y="7608986"/>
            <a:ext cx="3818335" cy="49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Key Gaps Identified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8469" y="8392716"/>
            <a:ext cx="1659106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Lack of scalability and real-time adaptability across traffic networks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8469" y="8865394"/>
            <a:ext cx="16591061" cy="4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3000"/>
              </a:lnSpc>
              <a:buFont typeface="Arial"/>
              <a:buChar char="•"/>
            </a:pPr>
            <a:r>
              <a:rPr lang="en-US" sz="187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Slow learning convergence and poor emission optimization in existing methods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5135225" y="9513666"/>
            <a:ext cx="3086100" cy="768288"/>
            <a:chOff x="0" y="0"/>
            <a:chExt cx="812800" cy="20234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2293293"/>
            <a:ext cx="11056441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Problem Definition &amp;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951386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642843"/>
            <a:ext cx="7805886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Urban traffic congestion is inefficient and harmful to the environment. Current signal systems lack real-time adaptability to dynamic traffic conditions, resulting in increased delays, fuel consumption, and emissions.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3951386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SMART Objectives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4642843"/>
            <a:ext cx="780588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Develop and train an RL agent for adaptive signal control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5649217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Simulate and validate in SUMO environment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620196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Compare against fixed and actuated baselines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675471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Reduce waiting time by ≥15%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730746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Support SDG 11 through improved sustainability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76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0182" y="381744"/>
            <a:ext cx="4030415" cy="49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Proposed Methodology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05420" y="1165623"/>
            <a:ext cx="8570416" cy="879574"/>
            <a:chOff x="0" y="0"/>
            <a:chExt cx="11427222" cy="1172765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11414506" cy="1160145"/>
            </a:xfrm>
            <a:custGeom>
              <a:avLst/>
              <a:gdLst/>
              <a:ahLst/>
              <a:cxnLst/>
              <a:rect l="l" t="t" r="r" b="b"/>
              <a:pathLst>
                <a:path w="11414506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1427206" cy="1172845"/>
            </a:xfrm>
            <a:custGeom>
              <a:avLst/>
              <a:gdLst/>
              <a:ahLst/>
              <a:cxnLst/>
              <a:rect l="l" t="t" r="r" b="b"/>
              <a:pathLst>
                <a:path w="11427206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5410" y="1316087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Simulator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410" y="1594991"/>
            <a:ext cx="8250436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with Python TraCI interface for realistic traffic simulation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12015" y="1165623"/>
            <a:ext cx="8570565" cy="879574"/>
            <a:chOff x="0" y="0"/>
            <a:chExt cx="11427420" cy="1172765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11414760" cy="1160145"/>
            </a:xfrm>
            <a:custGeom>
              <a:avLst/>
              <a:gdLst/>
              <a:ahLst/>
              <a:cxnLst/>
              <a:rect l="l" t="t" r="r" b="b"/>
              <a:pathLst>
                <a:path w="11414760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427460" cy="1172845"/>
            </a:xfrm>
            <a:custGeom>
              <a:avLst/>
              <a:gdLst/>
              <a:ahLst/>
              <a:cxnLst/>
              <a:rect l="l" t="t" r="r" b="b"/>
              <a:pathLst>
                <a:path w="11427460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72005" y="1316087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Algorithm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72005" y="1594991"/>
            <a:ext cx="8250585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DQN and PPO for signal phase optimization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05420" y="2181374"/>
            <a:ext cx="8570416" cy="879574"/>
            <a:chOff x="0" y="0"/>
            <a:chExt cx="11427222" cy="1172765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11414506" cy="1160145"/>
            </a:xfrm>
            <a:custGeom>
              <a:avLst/>
              <a:gdLst/>
              <a:ahLst/>
              <a:cxnLst/>
              <a:rect l="l" t="t" r="r" b="b"/>
              <a:pathLst>
                <a:path w="11414506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1427206" cy="1172845"/>
            </a:xfrm>
            <a:custGeom>
              <a:avLst/>
              <a:gdLst/>
              <a:ahLst/>
              <a:cxnLst/>
              <a:rect l="l" t="t" r="r" b="b"/>
              <a:pathLst>
                <a:path w="11427206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5410" y="2331839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State Space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410" y="2610742"/>
            <a:ext cx="8250436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Queue lengths, waiting times, lane speeds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12015" y="2181374"/>
            <a:ext cx="8570565" cy="879574"/>
            <a:chOff x="0" y="0"/>
            <a:chExt cx="11427420" cy="1172765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11414760" cy="1160145"/>
            </a:xfrm>
            <a:custGeom>
              <a:avLst/>
              <a:gdLst/>
              <a:ahLst/>
              <a:cxnLst/>
              <a:rect l="l" t="t" r="r" b="b"/>
              <a:pathLst>
                <a:path w="11414760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1427460" cy="1172845"/>
            </a:xfrm>
            <a:custGeom>
              <a:avLst/>
              <a:gdLst/>
              <a:ahLst/>
              <a:cxnLst/>
              <a:rect l="l" t="t" r="r" b="b"/>
              <a:pathLst>
                <a:path w="11427460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372005" y="2331839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Action Space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2005" y="2610742"/>
            <a:ext cx="8250585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Select optimal signal phase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05420" y="3197126"/>
            <a:ext cx="8570416" cy="879574"/>
            <a:chOff x="0" y="0"/>
            <a:chExt cx="11427222" cy="1172765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11414506" cy="1160145"/>
            </a:xfrm>
            <a:custGeom>
              <a:avLst/>
              <a:gdLst/>
              <a:ahLst/>
              <a:cxnLst/>
              <a:rect l="l" t="t" r="r" b="b"/>
              <a:pathLst>
                <a:path w="11414506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083" y="0"/>
                  </a:lnTo>
                  <a:cubicBezTo>
                    <a:pt x="11377549" y="0"/>
                    <a:pt x="11414506" y="36576"/>
                    <a:pt x="11414506" y="81661"/>
                  </a:cubicBezTo>
                  <a:lnTo>
                    <a:pt x="11414506" y="1078484"/>
                  </a:lnTo>
                  <a:cubicBezTo>
                    <a:pt x="11414506" y="1123569"/>
                    <a:pt x="11377549" y="1160145"/>
                    <a:pt x="11332083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1427206" cy="1172845"/>
            </a:xfrm>
            <a:custGeom>
              <a:avLst/>
              <a:gdLst/>
              <a:ahLst/>
              <a:cxnLst/>
              <a:rect l="l" t="t" r="r" b="b"/>
              <a:pathLst>
                <a:path w="11427206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433" y="0"/>
                  </a:lnTo>
                  <a:lnTo>
                    <a:pt x="11338433" y="6350"/>
                  </a:lnTo>
                  <a:lnTo>
                    <a:pt x="11338433" y="0"/>
                  </a:lnTo>
                  <a:cubicBezTo>
                    <a:pt x="11387455" y="0"/>
                    <a:pt x="11427206" y="39370"/>
                    <a:pt x="11427206" y="88011"/>
                  </a:cubicBezTo>
                  <a:lnTo>
                    <a:pt x="11420856" y="88011"/>
                  </a:lnTo>
                  <a:lnTo>
                    <a:pt x="11427206" y="88011"/>
                  </a:lnTo>
                  <a:lnTo>
                    <a:pt x="11427206" y="1084834"/>
                  </a:lnTo>
                  <a:lnTo>
                    <a:pt x="11420856" y="1084834"/>
                  </a:lnTo>
                  <a:lnTo>
                    <a:pt x="11427206" y="1084834"/>
                  </a:lnTo>
                  <a:cubicBezTo>
                    <a:pt x="11427206" y="1133475"/>
                    <a:pt x="11387455" y="1172845"/>
                    <a:pt x="11338433" y="1172845"/>
                  </a:cubicBezTo>
                  <a:lnTo>
                    <a:pt x="11338433" y="1166495"/>
                  </a:lnTo>
                  <a:lnTo>
                    <a:pt x="11338433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433" y="1160145"/>
                  </a:lnTo>
                  <a:cubicBezTo>
                    <a:pt x="11380470" y="1160145"/>
                    <a:pt x="11414506" y="1126363"/>
                    <a:pt x="11414506" y="1084834"/>
                  </a:cubicBezTo>
                  <a:lnTo>
                    <a:pt x="11414506" y="88011"/>
                  </a:lnTo>
                  <a:cubicBezTo>
                    <a:pt x="11414506" y="46482"/>
                    <a:pt x="11380470" y="12700"/>
                    <a:pt x="11338433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65410" y="3347591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Reward Function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0" y="3626495"/>
            <a:ext cx="8250436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Negative of total delay and queue length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212015" y="3197126"/>
            <a:ext cx="8570565" cy="879574"/>
            <a:chOff x="0" y="0"/>
            <a:chExt cx="11427420" cy="1172765"/>
          </a:xfrm>
        </p:grpSpPr>
        <p:sp>
          <p:nvSpPr>
            <p:cNvPr id="35" name="Freeform 35"/>
            <p:cNvSpPr/>
            <p:nvPr/>
          </p:nvSpPr>
          <p:spPr>
            <a:xfrm>
              <a:off x="6350" y="6350"/>
              <a:ext cx="11414760" cy="1160145"/>
            </a:xfrm>
            <a:custGeom>
              <a:avLst/>
              <a:gdLst/>
              <a:ahLst/>
              <a:cxnLst/>
              <a:rect l="l" t="t" r="r" b="b"/>
              <a:pathLst>
                <a:path w="11414760" h="1160145">
                  <a:moveTo>
                    <a:pt x="0" y="81661"/>
                  </a:moveTo>
                  <a:cubicBezTo>
                    <a:pt x="0" y="36576"/>
                    <a:pt x="36957" y="0"/>
                    <a:pt x="82423" y="0"/>
                  </a:cubicBezTo>
                  <a:lnTo>
                    <a:pt x="11332337" y="0"/>
                  </a:lnTo>
                  <a:cubicBezTo>
                    <a:pt x="11377803" y="0"/>
                    <a:pt x="11414760" y="36576"/>
                    <a:pt x="11414760" y="81661"/>
                  </a:cubicBezTo>
                  <a:lnTo>
                    <a:pt x="11414760" y="1078484"/>
                  </a:lnTo>
                  <a:cubicBezTo>
                    <a:pt x="11414760" y="1123569"/>
                    <a:pt x="11377803" y="1160145"/>
                    <a:pt x="11332337" y="1160145"/>
                  </a:cubicBezTo>
                  <a:lnTo>
                    <a:pt x="82423" y="1160145"/>
                  </a:lnTo>
                  <a:cubicBezTo>
                    <a:pt x="36957" y="1160018"/>
                    <a:pt x="0" y="1123569"/>
                    <a:pt x="0" y="1078484"/>
                  </a:cubicBezTo>
                  <a:close/>
                </a:path>
              </a:pathLst>
            </a:custGeom>
            <a:solidFill>
              <a:srgbClr val="2F1D6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11427460" cy="1172845"/>
            </a:xfrm>
            <a:custGeom>
              <a:avLst/>
              <a:gdLst/>
              <a:ahLst/>
              <a:cxnLst/>
              <a:rect l="l" t="t" r="r" b="b"/>
              <a:pathLst>
                <a:path w="11427460" h="1172845">
                  <a:moveTo>
                    <a:pt x="0" y="88011"/>
                  </a:moveTo>
                  <a:cubicBezTo>
                    <a:pt x="0" y="39370"/>
                    <a:pt x="39751" y="0"/>
                    <a:pt x="88773" y="0"/>
                  </a:cubicBezTo>
                  <a:lnTo>
                    <a:pt x="11338687" y="0"/>
                  </a:lnTo>
                  <a:lnTo>
                    <a:pt x="11338687" y="6350"/>
                  </a:lnTo>
                  <a:lnTo>
                    <a:pt x="11338687" y="0"/>
                  </a:lnTo>
                  <a:cubicBezTo>
                    <a:pt x="11387709" y="0"/>
                    <a:pt x="11427460" y="39370"/>
                    <a:pt x="11427460" y="88011"/>
                  </a:cubicBezTo>
                  <a:lnTo>
                    <a:pt x="11421110" y="88011"/>
                  </a:lnTo>
                  <a:lnTo>
                    <a:pt x="11427460" y="88011"/>
                  </a:lnTo>
                  <a:lnTo>
                    <a:pt x="11427460" y="1084834"/>
                  </a:lnTo>
                  <a:lnTo>
                    <a:pt x="11421110" y="1084834"/>
                  </a:lnTo>
                  <a:lnTo>
                    <a:pt x="11427460" y="1084834"/>
                  </a:lnTo>
                  <a:cubicBezTo>
                    <a:pt x="11427460" y="1133475"/>
                    <a:pt x="11387709" y="1172845"/>
                    <a:pt x="11338687" y="1172845"/>
                  </a:cubicBezTo>
                  <a:lnTo>
                    <a:pt x="11338687" y="1166495"/>
                  </a:lnTo>
                  <a:lnTo>
                    <a:pt x="11338687" y="1172845"/>
                  </a:lnTo>
                  <a:lnTo>
                    <a:pt x="88773" y="1172845"/>
                  </a:lnTo>
                  <a:lnTo>
                    <a:pt x="88773" y="1166495"/>
                  </a:lnTo>
                  <a:lnTo>
                    <a:pt x="88773" y="1172845"/>
                  </a:lnTo>
                  <a:cubicBezTo>
                    <a:pt x="39751" y="1172718"/>
                    <a:pt x="0" y="1133475"/>
                    <a:pt x="0" y="1084834"/>
                  </a:cubicBezTo>
                  <a:lnTo>
                    <a:pt x="0" y="88011"/>
                  </a:lnTo>
                  <a:lnTo>
                    <a:pt x="6350" y="88011"/>
                  </a:lnTo>
                  <a:lnTo>
                    <a:pt x="0" y="88011"/>
                  </a:lnTo>
                  <a:moveTo>
                    <a:pt x="12700" y="88011"/>
                  </a:moveTo>
                  <a:lnTo>
                    <a:pt x="12700" y="1084834"/>
                  </a:lnTo>
                  <a:lnTo>
                    <a:pt x="6350" y="1084834"/>
                  </a:lnTo>
                  <a:lnTo>
                    <a:pt x="12700" y="1084834"/>
                  </a:lnTo>
                  <a:cubicBezTo>
                    <a:pt x="12700" y="1126363"/>
                    <a:pt x="46736" y="1160145"/>
                    <a:pt x="88773" y="1160145"/>
                  </a:cubicBezTo>
                  <a:lnTo>
                    <a:pt x="11338687" y="1160145"/>
                  </a:lnTo>
                  <a:cubicBezTo>
                    <a:pt x="11380724" y="1160145"/>
                    <a:pt x="11414760" y="1126363"/>
                    <a:pt x="11414760" y="1084834"/>
                  </a:cubicBezTo>
                  <a:lnTo>
                    <a:pt x="11414760" y="88011"/>
                  </a:lnTo>
                  <a:cubicBezTo>
                    <a:pt x="11414760" y="46482"/>
                    <a:pt x="11380724" y="12700"/>
                    <a:pt x="11338687" y="12700"/>
                  </a:cubicBezTo>
                  <a:lnTo>
                    <a:pt x="88773" y="12700"/>
                  </a:lnTo>
                  <a:lnTo>
                    <a:pt x="88773" y="6350"/>
                  </a:lnTo>
                  <a:lnTo>
                    <a:pt x="88773" y="12700"/>
                  </a:lnTo>
                  <a:cubicBezTo>
                    <a:pt x="46736" y="12700"/>
                    <a:pt x="12700" y="46482"/>
                    <a:pt x="12700" y="88011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372005" y="3347591"/>
            <a:ext cx="1913185" cy="24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Evaluation Metrics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72005" y="3626495"/>
            <a:ext cx="8250585" cy="2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124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Mean waiting time, travel time, throughput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0182" y="4271516"/>
            <a:ext cx="2295822" cy="30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Workflow Diagram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90462" y="4524375"/>
            <a:ext cx="13862963" cy="5978032"/>
            <a:chOff x="0" y="0"/>
            <a:chExt cx="22833807" cy="9846468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22833837" cy="9846437"/>
            </a:xfrm>
            <a:custGeom>
              <a:avLst/>
              <a:gdLst/>
              <a:ahLst/>
              <a:cxnLst/>
              <a:rect l="l" t="t" r="r" b="b"/>
              <a:pathLst>
                <a:path w="22833837" h="9846437">
                  <a:moveTo>
                    <a:pt x="0" y="0"/>
                  </a:moveTo>
                  <a:lnTo>
                    <a:pt x="22833837" y="0"/>
                  </a:lnTo>
                  <a:lnTo>
                    <a:pt x="22833837" y="9846437"/>
                  </a:lnTo>
                  <a:lnTo>
                    <a:pt x="0" y="9846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" r="-2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11202" y="9333975"/>
            <a:ext cx="407942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Policy Update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292" y="7833212"/>
            <a:ext cx="407942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RL Agent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6292" y="6614012"/>
            <a:ext cx="407942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SUMO Simulation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6292" y="5207487"/>
            <a:ext cx="4079426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Collect Traffic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1172616"/>
            <a:ext cx="7560469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Work Plan &amp; Schedule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75" y="2712839"/>
            <a:ext cx="16313051" cy="4905970"/>
            <a:chOff x="0" y="0"/>
            <a:chExt cx="21750735" cy="65412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2" cy="6541262"/>
            </a:xfrm>
            <a:custGeom>
              <a:avLst/>
              <a:gdLst/>
              <a:ahLst/>
              <a:cxnLst/>
              <a:rect l="l" t="t" r="r" b="b"/>
              <a:pathLst>
                <a:path w="21750782" h="654126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376162"/>
                  </a:lnTo>
                  <a:lnTo>
                    <a:pt x="21744432" y="6376162"/>
                  </a:lnTo>
                  <a:lnTo>
                    <a:pt x="21750782" y="6376162"/>
                  </a:lnTo>
                  <a:cubicBezTo>
                    <a:pt x="21750782" y="6467348"/>
                    <a:pt x="21676742" y="6541262"/>
                    <a:pt x="21585428" y="6541262"/>
                  </a:cubicBezTo>
                  <a:lnTo>
                    <a:pt x="21585428" y="6534912"/>
                  </a:lnTo>
                  <a:lnTo>
                    <a:pt x="21585428" y="6541262"/>
                  </a:lnTo>
                  <a:lnTo>
                    <a:pt x="165354" y="6541262"/>
                  </a:lnTo>
                  <a:lnTo>
                    <a:pt x="165354" y="6534912"/>
                  </a:lnTo>
                  <a:lnTo>
                    <a:pt x="165354" y="6541262"/>
                  </a:lnTo>
                  <a:cubicBezTo>
                    <a:pt x="74041" y="6541262"/>
                    <a:pt x="0" y="6467348"/>
                    <a:pt x="0" y="63761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376162"/>
                  </a:lnTo>
                  <a:lnTo>
                    <a:pt x="6350" y="6376162"/>
                  </a:lnTo>
                  <a:lnTo>
                    <a:pt x="12700" y="6376162"/>
                  </a:lnTo>
                  <a:cubicBezTo>
                    <a:pt x="12700" y="6460363"/>
                    <a:pt x="81026" y="6528562"/>
                    <a:pt x="165354" y="6528562"/>
                  </a:cubicBezTo>
                  <a:lnTo>
                    <a:pt x="21585428" y="6528562"/>
                  </a:lnTo>
                  <a:cubicBezTo>
                    <a:pt x="21669756" y="6528562"/>
                    <a:pt x="21738082" y="6460363"/>
                    <a:pt x="21738082" y="6376162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2727126"/>
            <a:ext cx="16284476" cy="812899"/>
            <a:chOff x="0" y="0"/>
            <a:chExt cx="21712635" cy="1083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429" y="2821037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Week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46998" y="2821037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Task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1762" y="3540026"/>
            <a:ext cx="16284476" cy="812899"/>
            <a:chOff x="0" y="0"/>
            <a:chExt cx="21712635" cy="1083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85429" y="3633936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1–2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46998" y="3633936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Literature Review, Problem Definition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762" y="4352925"/>
            <a:ext cx="16284476" cy="812899"/>
            <a:chOff x="0" y="0"/>
            <a:chExt cx="21712635" cy="10838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5429" y="4446835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3–4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46998" y="4446835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Setup, Data Preparation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01762" y="5165824"/>
            <a:ext cx="16284476" cy="812899"/>
            <a:chOff x="0" y="0"/>
            <a:chExt cx="21712635" cy="10838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5429" y="5259735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5–6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46998" y="5259735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Model Implementation (DQN/PPO)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762" y="5978724"/>
            <a:ext cx="16284476" cy="812899"/>
            <a:chOff x="0" y="0"/>
            <a:chExt cx="21712635" cy="10838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85429" y="6072634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7–8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46998" y="6072634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Training and Testing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01762" y="6791622"/>
            <a:ext cx="16284476" cy="812899"/>
            <a:chOff x="0" y="0"/>
            <a:chExt cx="21712635" cy="10838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85429" y="6885534"/>
            <a:ext cx="2685009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9–10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46998" y="6885534"/>
            <a:ext cx="12455724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Evaluation &amp; Report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2238" y="7818685"/>
            <a:ext cx="16303526" cy="124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project follows a structured 10-week workflow, ensuring clear milestones and measurable progress throughout the development cycle.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2070199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System Requirements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728294"/>
            <a:ext cx="4164062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Hardware 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41974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Processor: Intel i5/i7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97249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RAM: 8–16 GB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52524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GPU: Optional NVIDIA GPU for acceleration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1" y="3728294"/>
            <a:ext cx="398412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Software Requirements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4419749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OS: Windows 11 / Ubuntu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4972496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1.19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5525244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Python 3.10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6077991"/>
            <a:ext cx="7805886" cy="53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PyTorch, NumPy, Matplotlib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6921104"/>
            <a:ext cx="16303526" cy="124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experiments will be performed locally using SUMO and PyTorch for reinforcement learning model training and validation.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1028403"/>
            <a:ext cx="9797355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SDG Mapping &amp; Justification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100709"/>
            <a:ext cx="12201971" cy="57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Mapped Goal: SDG 11 – Sustainable Cities and Communities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3188" y="3084165"/>
            <a:ext cx="8048030" cy="2223790"/>
            <a:chOff x="0" y="0"/>
            <a:chExt cx="10730707" cy="2965053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10679938" cy="2914269"/>
            </a:xfrm>
            <a:custGeom>
              <a:avLst/>
              <a:gdLst/>
              <a:ahLst/>
              <a:cxnLst/>
              <a:rect l="l" t="t" r="r" b="b"/>
              <a:pathLst>
                <a:path w="10679938" h="2914269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55519"/>
                  </a:lnTo>
                  <a:cubicBezTo>
                    <a:pt x="10679938" y="2843149"/>
                    <a:pt x="10607929" y="2914269"/>
                    <a:pt x="10519156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0730738" cy="2965069"/>
            </a:xfrm>
            <a:custGeom>
              <a:avLst/>
              <a:gdLst/>
              <a:ahLst/>
              <a:cxnLst/>
              <a:rect l="l" t="t" r="r" b="b"/>
              <a:pathLst>
                <a:path w="10730738" h="2965069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80919"/>
                  </a:lnTo>
                  <a:lnTo>
                    <a:pt x="10705338" y="2780919"/>
                  </a:lnTo>
                  <a:lnTo>
                    <a:pt x="10730738" y="2780919"/>
                  </a:lnTo>
                  <a:cubicBezTo>
                    <a:pt x="10730738" y="2882900"/>
                    <a:pt x="10647045" y="2965069"/>
                    <a:pt x="10544556" y="2965069"/>
                  </a:cubicBezTo>
                  <a:lnTo>
                    <a:pt x="10544556" y="2939669"/>
                  </a:lnTo>
                  <a:lnTo>
                    <a:pt x="10544556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556" y="2914269"/>
                  </a:lnTo>
                  <a:cubicBezTo>
                    <a:pt x="10619613" y="2914269"/>
                    <a:pt x="10679938" y="2854198"/>
                    <a:pt x="10679938" y="2780919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3855" y="3396257"/>
            <a:ext cx="4173736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Efficient Urban Mobility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3855" y="3974306"/>
            <a:ext cx="73666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Promotes efficient and green urban mobility through intelligent traffic management systems.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6635" y="3084165"/>
            <a:ext cx="8048179" cy="2223790"/>
            <a:chOff x="0" y="0"/>
            <a:chExt cx="10730905" cy="2965053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10680064" cy="2914269"/>
            </a:xfrm>
            <a:custGeom>
              <a:avLst/>
              <a:gdLst/>
              <a:ahLst/>
              <a:cxnLst/>
              <a:rect l="l" t="t" r="r" b="b"/>
              <a:pathLst>
                <a:path w="10680064" h="2914269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55519"/>
                  </a:lnTo>
                  <a:cubicBezTo>
                    <a:pt x="10680064" y="2843149"/>
                    <a:pt x="10608056" y="2914269"/>
                    <a:pt x="10519283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730864" cy="2965069"/>
            </a:xfrm>
            <a:custGeom>
              <a:avLst/>
              <a:gdLst/>
              <a:ahLst/>
              <a:cxnLst/>
              <a:rect l="l" t="t" r="r" b="b"/>
              <a:pathLst>
                <a:path w="10730864" h="2965069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80919"/>
                  </a:lnTo>
                  <a:lnTo>
                    <a:pt x="10705464" y="2780919"/>
                  </a:lnTo>
                  <a:lnTo>
                    <a:pt x="10730864" y="2780919"/>
                  </a:lnTo>
                  <a:cubicBezTo>
                    <a:pt x="10730864" y="2882900"/>
                    <a:pt x="10647172" y="2965069"/>
                    <a:pt x="10544683" y="2965069"/>
                  </a:cubicBezTo>
                  <a:lnTo>
                    <a:pt x="10544683" y="2939669"/>
                  </a:lnTo>
                  <a:lnTo>
                    <a:pt x="10544683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683" y="2914269"/>
                  </a:lnTo>
                  <a:cubicBezTo>
                    <a:pt x="10619739" y="2914269"/>
                    <a:pt x="10680064" y="2854198"/>
                    <a:pt x="10680064" y="2780919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607302" y="3396257"/>
            <a:ext cx="3721299" cy="49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Emission Reduction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07302" y="3974306"/>
            <a:ext cx="736684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Reduces CO₂ emissions and congestion by optimizing traffic flow in real-time.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3188" y="5553372"/>
            <a:ext cx="8048030" cy="2223790"/>
            <a:chOff x="0" y="0"/>
            <a:chExt cx="10730707" cy="2965053"/>
          </a:xfrm>
        </p:grpSpPr>
        <p:sp>
          <p:nvSpPr>
            <p:cNvPr id="21" name="Freeform 21"/>
            <p:cNvSpPr/>
            <p:nvPr/>
          </p:nvSpPr>
          <p:spPr>
            <a:xfrm>
              <a:off x="25400" y="25400"/>
              <a:ext cx="10679938" cy="2914269"/>
            </a:xfrm>
            <a:custGeom>
              <a:avLst/>
              <a:gdLst/>
              <a:ahLst/>
              <a:cxnLst/>
              <a:rect l="l" t="t" r="r" b="b"/>
              <a:pathLst>
                <a:path w="10679938" h="2914269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156" y="0"/>
                  </a:lnTo>
                  <a:cubicBezTo>
                    <a:pt x="10607929" y="0"/>
                    <a:pt x="10679938" y="71120"/>
                    <a:pt x="10679938" y="158750"/>
                  </a:cubicBezTo>
                  <a:lnTo>
                    <a:pt x="10679938" y="2755519"/>
                  </a:lnTo>
                  <a:cubicBezTo>
                    <a:pt x="10679938" y="2843149"/>
                    <a:pt x="10607929" y="2914269"/>
                    <a:pt x="10519156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0730738" cy="2965069"/>
            </a:xfrm>
            <a:custGeom>
              <a:avLst/>
              <a:gdLst/>
              <a:ahLst/>
              <a:cxnLst/>
              <a:rect l="l" t="t" r="r" b="b"/>
              <a:pathLst>
                <a:path w="10730738" h="2965069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556" y="0"/>
                  </a:lnTo>
                  <a:lnTo>
                    <a:pt x="10544556" y="25400"/>
                  </a:lnTo>
                  <a:lnTo>
                    <a:pt x="10544556" y="0"/>
                  </a:lnTo>
                  <a:cubicBezTo>
                    <a:pt x="10647045" y="0"/>
                    <a:pt x="10730738" y="82169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780919"/>
                  </a:lnTo>
                  <a:lnTo>
                    <a:pt x="10705338" y="2780919"/>
                  </a:lnTo>
                  <a:lnTo>
                    <a:pt x="10730738" y="2780919"/>
                  </a:lnTo>
                  <a:cubicBezTo>
                    <a:pt x="10730738" y="2882900"/>
                    <a:pt x="10647045" y="2965069"/>
                    <a:pt x="10544556" y="2965069"/>
                  </a:cubicBezTo>
                  <a:lnTo>
                    <a:pt x="10544556" y="2939669"/>
                  </a:lnTo>
                  <a:lnTo>
                    <a:pt x="10544556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556" y="2914269"/>
                  </a:lnTo>
                  <a:cubicBezTo>
                    <a:pt x="10619613" y="2914269"/>
                    <a:pt x="10679938" y="2854198"/>
                    <a:pt x="10679938" y="2780919"/>
                  </a:cubicBezTo>
                  <a:lnTo>
                    <a:pt x="10679938" y="184150"/>
                  </a:lnTo>
                  <a:cubicBezTo>
                    <a:pt x="10679938" y="110744"/>
                    <a:pt x="10619613" y="50800"/>
                    <a:pt x="10544556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13855" y="5865465"/>
            <a:ext cx="3721299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Smart Infrastructure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3855" y="6443514"/>
            <a:ext cx="736669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Builds smarter, AI-driven transport systems for modern cities.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66635" y="5553372"/>
            <a:ext cx="8048179" cy="2223790"/>
            <a:chOff x="0" y="0"/>
            <a:chExt cx="10730905" cy="2965053"/>
          </a:xfrm>
        </p:grpSpPr>
        <p:sp>
          <p:nvSpPr>
            <p:cNvPr id="26" name="Freeform 26"/>
            <p:cNvSpPr/>
            <p:nvPr/>
          </p:nvSpPr>
          <p:spPr>
            <a:xfrm>
              <a:off x="25400" y="25400"/>
              <a:ext cx="10680064" cy="2914269"/>
            </a:xfrm>
            <a:custGeom>
              <a:avLst/>
              <a:gdLst/>
              <a:ahLst/>
              <a:cxnLst/>
              <a:rect l="l" t="t" r="r" b="b"/>
              <a:pathLst>
                <a:path w="10680064" h="2914269">
                  <a:moveTo>
                    <a:pt x="0" y="158750"/>
                  </a:moveTo>
                  <a:cubicBezTo>
                    <a:pt x="0" y="71120"/>
                    <a:pt x="72009" y="0"/>
                    <a:pt x="160782" y="0"/>
                  </a:cubicBezTo>
                  <a:lnTo>
                    <a:pt x="10519283" y="0"/>
                  </a:lnTo>
                  <a:cubicBezTo>
                    <a:pt x="10608056" y="0"/>
                    <a:pt x="10680064" y="71120"/>
                    <a:pt x="10680064" y="158750"/>
                  </a:cubicBezTo>
                  <a:lnTo>
                    <a:pt x="10680064" y="2755519"/>
                  </a:lnTo>
                  <a:cubicBezTo>
                    <a:pt x="10680064" y="2843149"/>
                    <a:pt x="10608056" y="2914269"/>
                    <a:pt x="10519283" y="2914269"/>
                  </a:cubicBezTo>
                  <a:lnTo>
                    <a:pt x="160782" y="2914269"/>
                  </a:lnTo>
                  <a:cubicBezTo>
                    <a:pt x="72009" y="2914269"/>
                    <a:pt x="0" y="2843149"/>
                    <a:pt x="0" y="2755519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10730864" cy="2965069"/>
            </a:xfrm>
            <a:custGeom>
              <a:avLst/>
              <a:gdLst/>
              <a:ahLst/>
              <a:cxnLst/>
              <a:rect l="l" t="t" r="r" b="b"/>
              <a:pathLst>
                <a:path w="10730864" h="2965069">
                  <a:moveTo>
                    <a:pt x="0" y="184150"/>
                  </a:moveTo>
                  <a:cubicBezTo>
                    <a:pt x="0" y="82169"/>
                    <a:pt x="83693" y="0"/>
                    <a:pt x="186182" y="0"/>
                  </a:cubicBezTo>
                  <a:lnTo>
                    <a:pt x="10544683" y="0"/>
                  </a:lnTo>
                  <a:lnTo>
                    <a:pt x="10544683" y="25400"/>
                  </a:lnTo>
                  <a:lnTo>
                    <a:pt x="10544683" y="0"/>
                  </a:lnTo>
                  <a:cubicBezTo>
                    <a:pt x="10647172" y="0"/>
                    <a:pt x="10730864" y="82169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780919"/>
                  </a:lnTo>
                  <a:lnTo>
                    <a:pt x="10705464" y="2780919"/>
                  </a:lnTo>
                  <a:lnTo>
                    <a:pt x="10730864" y="2780919"/>
                  </a:lnTo>
                  <a:cubicBezTo>
                    <a:pt x="10730864" y="2882900"/>
                    <a:pt x="10647172" y="2965069"/>
                    <a:pt x="10544683" y="2965069"/>
                  </a:cubicBezTo>
                  <a:lnTo>
                    <a:pt x="10544683" y="2939669"/>
                  </a:lnTo>
                  <a:lnTo>
                    <a:pt x="10544683" y="2965069"/>
                  </a:lnTo>
                  <a:lnTo>
                    <a:pt x="186182" y="2965069"/>
                  </a:lnTo>
                  <a:lnTo>
                    <a:pt x="186182" y="2939669"/>
                  </a:lnTo>
                  <a:lnTo>
                    <a:pt x="186182" y="2965069"/>
                  </a:lnTo>
                  <a:cubicBezTo>
                    <a:pt x="83693" y="2965069"/>
                    <a:pt x="0" y="2882900"/>
                    <a:pt x="0" y="2780919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80919"/>
                  </a:lnTo>
                  <a:lnTo>
                    <a:pt x="25400" y="2780919"/>
                  </a:lnTo>
                  <a:lnTo>
                    <a:pt x="50800" y="2780919"/>
                  </a:lnTo>
                  <a:cubicBezTo>
                    <a:pt x="50800" y="2854325"/>
                    <a:pt x="111125" y="2914269"/>
                    <a:pt x="186182" y="2914269"/>
                  </a:cubicBezTo>
                  <a:lnTo>
                    <a:pt x="10544683" y="2914269"/>
                  </a:lnTo>
                  <a:cubicBezTo>
                    <a:pt x="10619739" y="2914269"/>
                    <a:pt x="10680064" y="2854198"/>
                    <a:pt x="10680064" y="2780919"/>
                  </a:cubicBezTo>
                  <a:lnTo>
                    <a:pt x="10680064" y="184150"/>
                  </a:lnTo>
                  <a:cubicBezTo>
                    <a:pt x="10680064" y="110744"/>
                    <a:pt x="10619739" y="50800"/>
                    <a:pt x="10544683" y="50800"/>
                  </a:cubicBezTo>
                  <a:lnTo>
                    <a:pt x="186182" y="50800"/>
                  </a:lnTo>
                  <a:lnTo>
                    <a:pt x="186182" y="25400"/>
                  </a:lnTo>
                  <a:lnTo>
                    <a:pt x="186182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48367C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607302" y="5865465"/>
            <a:ext cx="4530775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E0D6DE"/>
                </a:solidFill>
                <a:latin typeface="Petrona"/>
                <a:ea typeface="Petrona"/>
                <a:cs typeface="Petrona"/>
                <a:sym typeface="Petrona"/>
              </a:rPr>
              <a:t>Eco-Friendly Development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07302" y="6443514"/>
            <a:ext cx="736684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Supports eco-friendly infrastructure and sustainable city development.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2238" y="7962751"/>
            <a:ext cx="16303526" cy="124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This research aligns directly with SDG 11, contributing to sustainable city development and smart mobility solutions for urban environments.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2288530"/>
            <a:ext cx="7442746" cy="9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747790"/>
            <a:ext cx="16303526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4951" lvl="1"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Deep Reinforcement Learning for Traffic Signal Control Model and Adaptation Study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300537"/>
            <a:ext cx="16303526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4951" lvl="1"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Zhang, </a:t>
            </a:r>
            <a:r>
              <a:rPr lang="en-US" sz="2187" i="1" dirty="0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Springer </a:t>
            </a:r>
            <a:r>
              <a:rPr lang="en-US" sz="2187" i="1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Neural Compute</a:t>
            </a:r>
            <a:r>
              <a:rPr lang="en-US" sz="2187" i="1" dirty="0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r</a:t>
            </a:r>
            <a:r>
              <a:rPr lang="en-US" sz="2187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2022 – Multi-Agent RL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853285"/>
            <a:ext cx="16303526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4951" lvl="1"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Patel, </a:t>
            </a:r>
            <a:r>
              <a:rPr lang="en-US" sz="2187" i="1" dirty="0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Sensors Journal</a:t>
            </a: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2023 – IoT Traffic Optimization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406032"/>
            <a:ext cx="16303526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4951" lvl="1"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Singh, </a:t>
            </a:r>
            <a:r>
              <a:rPr lang="en-US" sz="2187" i="1" dirty="0">
                <a:solidFill>
                  <a:srgbClr val="E0D6DE"/>
                </a:solidFill>
                <a:latin typeface="Inter Italics"/>
                <a:ea typeface="Inter Italics"/>
                <a:cs typeface="Inter Italics"/>
                <a:sym typeface="Inter Italics"/>
              </a:rPr>
              <a:t>ACM Comp. Surveys</a:t>
            </a: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, 2023 – PPO for Traffic 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5958780"/>
            <a:ext cx="16303526" cy="4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4951" lvl="1" algn="l">
              <a:lnSpc>
                <a:spcPts val="3562"/>
              </a:lnSpc>
            </a:pP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SUMO Docs – </a:t>
            </a:r>
            <a:r>
              <a:rPr lang="en-US" sz="2187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TraCI</a:t>
            </a:r>
            <a:r>
              <a:rPr lang="en-US" sz="2187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API,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6702772"/>
            <a:ext cx="16303526" cy="124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These papers provide the foundation for reinforcement learning–based adaptive signal control and form the theoretical basis for this project's implementation and validation.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16175" y="9513666"/>
            <a:ext cx="3086100" cy="768288"/>
            <a:chOff x="0" y="0"/>
            <a:chExt cx="812800" cy="202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02347"/>
            </a:xfrm>
            <a:custGeom>
              <a:avLst/>
              <a:gdLst/>
              <a:ahLst/>
              <a:cxnLst/>
              <a:rect l="l" t="t" r="r" b="b"/>
              <a:pathLst>
                <a:path w="812800" h="202347">
                  <a:moveTo>
                    <a:pt x="0" y="0"/>
                  </a:moveTo>
                  <a:lnTo>
                    <a:pt x="812800" y="0"/>
                  </a:lnTo>
                  <a:lnTo>
                    <a:pt x="812800" y="202347"/>
                  </a:lnTo>
                  <a:lnTo>
                    <a:pt x="0" y="202347"/>
                  </a:lnTo>
                  <a:close/>
                </a:path>
              </a:pathLst>
            </a:custGeom>
            <a:solidFill>
              <a:srgbClr val="0D072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812800" cy="28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2237" y="1826865"/>
            <a:ext cx="16303526" cy="120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sz="7612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Thank You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7" y="4414689"/>
            <a:ext cx="16303526" cy="53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b="1">
                <a:solidFill>
                  <a:srgbClr val="E0D6DE"/>
                </a:solidFill>
                <a:latin typeface="Inter Bold"/>
                <a:ea typeface="Inter Bold"/>
                <a:cs typeface="Inter Bold"/>
                <a:sym typeface="Inter Bold"/>
              </a:rPr>
              <a:t>Made By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207139"/>
            <a:ext cx="16303526" cy="53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Ekansh Lamba [RA2311003012132]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002625"/>
            <a:ext cx="16303526" cy="53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Shravani Nikam [RA2311003012142]</a:t>
            </a:r>
          </a:p>
        </p:txBody>
      </p:sp>
    </p:spTree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633</Words>
  <Application>Microsoft Office PowerPoint</Application>
  <PresentationFormat>Custom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Bold</vt:lpstr>
      <vt:lpstr>Petrona</vt:lpstr>
      <vt:lpstr>Calibri</vt:lpstr>
      <vt:lpstr>Inter</vt:lpstr>
      <vt:lpstr>Arial</vt:lpstr>
      <vt:lpstr>Inter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SUMO Simulation</dc:title>
  <cp:lastModifiedBy>Ekansh Lamba</cp:lastModifiedBy>
  <cp:revision>4</cp:revision>
  <dcterms:created xsi:type="dcterms:W3CDTF">2006-08-16T00:00:00Z</dcterms:created>
  <dcterms:modified xsi:type="dcterms:W3CDTF">2025-11-11T03:17:44Z</dcterms:modified>
  <dc:identifier>DAG4U27Lkow</dc:identifier>
</cp:coreProperties>
</file>
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72" r:id="rId4"/>
    <p:sldId id="273" r:id="rId5"/>
    <p:sldId id="274" r:id="rId6"/>
    <p:sldId id="275" r:id="rId7"/>
    <p:sldId id="276" r:id="rId8"/>
    <p:sldId id="277" r:id="rId9"/>
    <p:sldId id="278" r:id="rId10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4" roundtripDataSignature="AMtx7mi8k4vfTcigBOvi1GPtpHoS9j9j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3364276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817354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82009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852128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148511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2805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535607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65700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762721" y="1891010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TRAFFIQ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4341960" y="3980232"/>
            <a:ext cx="4605337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0" indent="0">
              <a:spcBef>
                <a:spcPts val="0"/>
              </a:spcBef>
              <a:buSzPct val="100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ID: B421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1 Reg. No: RA2311003012132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592"/>
              </a:spcBef>
              <a:buSzPct val="100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1 Name: Ekansh Lamba</a:t>
            </a:r>
          </a:p>
          <a:p>
            <a:pPr marL="0" lvl="0" indent="0" algn="ctr" rtl="0">
              <a:spcBef>
                <a:spcPts val="592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592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2 Reg. No: RA2311003012142</a:t>
            </a:r>
          </a:p>
          <a:p>
            <a:pPr marL="0" lvl="0" indent="0">
              <a:spcBef>
                <a:spcPts val="592"/>
              </a:spcBef>
              <a:buSzPct val="100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2 Name: Shravani Nikam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9304" y="243589"/>
            <a:ext cx="1402418" cy="51132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/>
          <p:nvPr/>
        </p:nvSpPr>
        <p:spPr>
          <a:xfrm>
            <a:off x="1688084" y="278272"/>
            <a:ext cx="617220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SRM INSTITUTE OF SCIENCE AND TECHNOLOGY 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SCHOOL OF COMPUTING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DEPARTMENT OF COMPUTING TECHNOLOGIES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lvl="0" algn="ctr"/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21CSP302L - 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MINOR PROJECT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7" name="Google Shape;89;p1"/>
          <p:cNvSpPr txBox="1">
            <a:spLocks/>
          </p:cNvSpPr>
          <p:nvPr/>
        </p:nvSpPr>
        <p:spPr>
          <a:xfrm>
            <a:off x="0" y="3980232"/>
            <a:ext cx="3471862" cy="1190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70000"/>
              </a:lnSpc>
              <a:spcBef>
                <a:spcPts val="592"/>
              </a:spcBef>
              <a:buSzPct val="100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name: Dr. S Shanmugam</a:t>
            </a:r>
          </a:p>
          <a:p>
            <a:pPr marL="0" indent="0">
              <a:lnSpc>
                <a:spcPct val="170000"/>
              </a:lnSpc>
              <a:spcBef>
                <a:spcPts val="592"/>
              </a:spcBef>
              <a:buSzPct val="100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Designation: Assistant Professor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Department: Computing Technologies</a:t>
            </a:r>
          </a:p>
        </p:txBody>
      </p:sp>
      <p:pic>
        <p:nvPicPr>
          <p:cNvPr id="8" name="Picture 2" descr="icot 2023 Trifold Brochure_14.02.2023">
            <a:extLst>
              <a:ext uri="{FF2B5EF4-FFF2-40B4-BE49-F238E27FC236}">
                <a16:creationId xmlns:a16="http://schemas.microsoft.com/office/drawing/2014/main" id="{73D89A76-A2AF-4290-B455-A5514D1E1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6074" y="85859"/>
            <a:ext cx="1477926" cy="696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   Problem Statement</a:t>
            </a:r>
            <a:endParaRPr dirty="0"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114300" indent="0">
              <a:buNone/>
            </a:pPr>
            <a:r>
              <a:rPr lang="en-US" sz="25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Urban traffic congestion wastes billions of vehicle-hours annually inefficient fixed-time signals are a leading contributor</a:t>
            </a:r>
          </a:p>
          <a:p>
            <a:pPr marL="114300" indent="0">
              <a:buNone/>
            </a:pPr>
            <a:r>
              <a:rPr lang="en-US" sz="25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Conventional signals operate on pre-set timers cannot adapt to real-time vehicle density, causing unnecessary delays and fuel waste</a:t>
            </a:r>
          </a:p>
          <a:p>
            <a:pPr marL="114300" indent="0">
              <a:buNone/>
            </a:pPr>
            <a:r>
              <a:rPr lang="en-US" sz="25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Existing vision-based approaches rely on hand crafted rules and lack learning capability, limiting performance under dynamic traffic conditions</a:t>
            </a:r>
          </a:p>
          <a:p>
            <a:pPr marL="114300" indent="0">
              <a:buNone/>
            </a:pPr>
            <a:r>
              <a:rPr lang="en-US" sz="25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5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Need:an</a:t>
            </a:r>
            <a:r>
              <a:rPr lang="en-US" sz="25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intelligent, self-learning system that perceives real-time traffic density and dynamically optimises signal phases to minimise waiting time and queue length</a:t>
            </a:r>
          </a:p>
          <a:p>
            <a:pPr marL="0" indent="0">
              <a:buNone/>
            </a:pP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28/02/2026</a:t>
            </a:r>
            <a:endParaRPr dirty="0"/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dirty="0"/>
              <a:t> Objectives</a:t>
            </a:r>
            <a:endParaRPr dirty="0"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114300" indent="0">
              <a:buNone/>
            </a:pPr>
            <a:r>
              <a:rPr lang="en-US" sz="25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Train a Proximal Policy Optimisation (PPO) RL agent to control a 4-way traffic signal in a SUMO-simulated intersection</a:t>
            </a:r>
          </a:p>
          <a:p>
            <a:pPr marL="114300" indent="0">
              <a:buNone/>
            </a:pPr>
            <a:r>
              <a:rPr lang="en-US" sz="25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Design a modular two-mode perception layer : Classical HSV+Contour CV for SUMO training; YOLOv8 for real world video inference</a:t>
            </a:r>
          </a:p>
          <a:p>
            <a:pPr marL="114300" indent="0">
              <a:buNone/>
            </a:pPr>
            <a:r>
              <a:rPr lang="en-US" sz="25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Evaluate RL adaptive control against fixed-time baseline across 3 conditions: Condition A (Fixed), Condition B (PPO+TraCI), Condition C (PPO+Classical CV)</a:t>
            </a:r>
          </a:p>
          <a:p>
            <a:pPr marL="114300" indent="0">
              <a:buNone/>
            </a:pPr>
            <a:r>
              <a:rPr lang="en-US" sz="25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Validate real-world deployment readiness via YOLOv8 inference on real traffic camera footage (UA-DETRAC / Kaggle dataset)</a:t>
            </a:r>
          </a:p>
          <a:p>
            <a:pPr marL="0" indent="0">
              <a:buNone/>
            </a:pP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28/02/2026</a:t>
            </a:r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6503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dirty="0"/>
              <a:t>  Literature Review</a:t>
            </a:r>
            <a:endParaRPr dirty="0"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endParaRPr lang="en-US" sz="18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sz="18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sz="18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sz="18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sz="18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sz="18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2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Work Fills the Gap: Combines HSV based CV for simulation + YOLOv8 for real-world in one unified modular RL architecture</a:t>
            </a:r>
          </a:p>
          <a:p>
            <a:pPr marL="0" indent="0">
              <a:buNone/>
            </a:pP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28/02/2026</a:t>
            </a:r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C8D241C-BB60-9E04-8B3F-536CE8B9DB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0942697"/>
              </p:ext>
            </p:extLst>
          </p:nvPr>
        </p:nvGraphicFramePr>
        <p:xfrm>
          <a:off x="648928" y="1397000"/>
          <a:ext cx="7659330" cy="3808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3110">
                  <a:extLst>
                    <a:ext uri="{9D8B030D-6E8A-4147-A177-3AD203B41FA5}">
                      <a16:colId xmlns:a16="http://schemas.microsoft.com/office/drawing/2014/main" val="806845112"/>
                    </a:ext>
                  </a:extLst>
                </a:gridCol>
                <a:gridCol w="2553110">
                  <a:extLst>
                    <a:ext uri="{9D8B030D-6E8A-4147-A177-3AD203B41FA5}">
                      <a16:colId xmlns:a16="http://schemas.microsoft.com/office/drawing/2014/main" val="2255241951"/>
                    </a:ext>
                  </a:extLst>
                </a:gridCol>
                <a:gridCol w="2553110">
                  <a:extLst>
                    <a:ext uri="{9D8B030D-6E8A-4147-A177-3AD203B41FA5}">
                      <a16:colId xmlns:a16="http://schemas.microsoft.com/office/drawing/2014/main" val="3385763619"/>
                    </a:ext>
                  </a:extLst>
                </a:gridCol>
              </a:tblGrid>
              <a:tr h="185843"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Author &amp;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Research Gap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4511260"/>
                  </a:ext>
                </a:extLst>
              </a:tr>
              <a:tr h="1096472"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Rasheed et al.,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PPO-based RL agent trained in SUMO achieved 52% reduction in average vehicle delay compared to fixed-time signal control 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Perception used </a:t>
                      </a:r>
                      <a:r>
                        <a:rPr lang="en-US" sz="1100" dirty="0" err="1"/>
                        <a:t>TraCI</a:t>
                      </a:r>
                      <a:r>
                        <a:rPr lang="en-US" sz="1100" dirty="0"/>
                        <a:t> ground truth only no </a:t>
                      </a:r>
                      <a:r>
                        <a:rPr lang="en-US" sz="1100" dirty="0" err="1"/>
                        <a:t>realworld</a:t>
                      </a:r>
                      <a:r>
                        <a:rPr lang="en-US" sz="1100" dirty="0"/>
                        <a:t> camera or CV validation performed</a:t>
                      </a:r>
                      <a:endParaRPr lang="en-IN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600026"/>
                  </a:ext>
                </a:extLst>
              </a:tr>
              <a:tr h="1226562"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Liu et al., 2024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YOLOv8 applied for real-time traffic density estimation at intersections; achieved 93.8% </a:t>
                      </a:r>
                      <a:r>
                        <a:rPr lang="en-US" sz="1100" dirty="0" err="1"/>
                        <a:t>mAP</a:t>
                      </a:r>
                      <a:r>
                        <a:rPr lang="en-US" sz="1100" dirty="0"/>
                        <a:t> on UA-DETRAC benchmark dataset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Detection-only pipeline no RL-based signal control integrated with the perception output</a:t>
                      </a:r>
                      <a:endParaRPr lang="en-IN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7299131"/>
                  </a:ext>
                </a:extLst>
              </a:tr>
              <a:tr h="1226562">
                <a:tc>
                  <a:txBody>
                    <a:bodyPr/>
                    <a:lstStyle/>
                    <a:p>
                      <a:pPr algn="ctr"/>
                      <a:r>
                        <a:rPr lang="en-IN" sz="1100" dirty="0"/>
                        <a:t>Zhang et al.,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Modular perception-policy architecture for sim-to-real transfer in traffic RL retained 81% of simulation performance on real-world data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No classical CV fallback for simulation training; full end-to-end pipeline not validated</a:t>
                      </a:r>
                      <a:endParaRPr lang="en-IN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67504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5114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sz="4000" dirty="0"/>
              <a:t>    Proposed Methodology</a:t>
            </a:r>
            <a:endParaRPr sz="4000" dirty="0"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114300" indent="0">
              <a:buNone/>
            </a:pPr>
            <a:r>
              <a:rPr lang="en-US" sz="24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How It Works  3 Layers:</a:t>
            </a:r>
          </a:p>
          <a:p>
            <a:pPr marL="342900" indent="0">
              <a:buNone/>
            </a:pPr>
            <a:r>
              <a:rPr lang="en-US" sz="22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– Eyes (Perception): Camera/screenshot → counts vehicles in each lane</a:t>
            </a:r>
          </a:p>
          <a:p>
            <a:pPr marL="342900" indent="0">
              <a:buNone/>
            </a:pPr>
            <a:r>
              <a:rPr lang="en-US" sz="22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– Brain (PPO Agent): Looks at lane counts → decides which signal phase to use</a:t>
            </a:r>
          </a:p>
          <a:p>
            <a:pPr marL="342900" indent="0">
              <a:buNone/>
            </a:pPr>
            <a:r>
              <a:rPr lang="en-US" sz="22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– Hands (TraCI): Sends the decision to SUMO → changes the traffic light</a:t>
            </a:r>
          </a:p>
          <a:p>
            <a:pPr marL="114300" indent="0">
              <a:buNone/>
            </a:pPr>
            <a:endParaRPr lang="en-US" sz="22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24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Two Perception Modes:</a:t>
            </a:r>
          </a:p>
          <a:p>
            <a:pPr marL="342900" indent="0">
              <a:buNone/>
            </a:pPr>
            <a:r>
              <a:rPr lang="en-US" sz="22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– During Training: Classical CV (colour-based detection) works perfectly on SUMO’s cartoon vehicles</a:t>
            </a:r>
          </a:p>
          <a:p>
            <a:pPr marL="342900" indent="0">
              <a:buNone/>
            </a:pPr>
            <a:r>
              <a:rPr lang="en-US" sz="22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– Real World: YOLOv8 (AI object detection) detects real cars from camera footage</a:t>
            </a:r>
          </a:p>
          <a:p>
            <a:pPr marL="114300" indent="0">
              <a:buNone/>
            </a:pPr>
            <a:endParaRPr lang="en-US" sz="22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22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Key Idea: Only the perception module changes. The RL agent stays the same for both modes.</a:t>
            </a:r>
          </a:p>
          <a:p>
            <a:pPr marL="114300" indent="0">
              <a:buNone/>
            </a:pPr>
            <a:endParaRPr lang="en-US" sz="2200" b="1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21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Tech Used: Python | SUMO 1.25 | Stable-Baselines3 (PPO) | OpenCV | YOLOv8 | TensorBoard</a:t>
            </a:r>
          </a:p>
          <a:p>
            <a:pPr marL="0" indent="0">
              <a:buNone/>
            </a:pP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28/02/2026</a:t>
            </a:r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4160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sz="4000" dirty="0"/>
              <a:t>    Work Plan / Timeline</a:t>
            </a:r>
            <a:endParaRPr sz="4000" dirty="0"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114300" indent="0">
              <a:buNone/>
            </a:pPr>
            <a:r>
              <a:rPr lang="en-US" sz="23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Status: Week 6 of project  |  Phases 1 &amp; 2 already COMPLETE</a:t>
            </a:r>
          </a:p>
          <a:p>
            <a:pPr marL="114300" indent="0">
              <a:buNone/>
            </a:pPr>
            <a:endParaRPr lang="en-US" sz="23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22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Week 7 — Full Training (Condition C): Run PPO + Classical CV for 200,000 </a:t>
            </a:r>
            <a:r>
              <a:rPr lang="en-US" sz="2200" i="0">
                <a:latin typeface="Times New Roman" panose="02020603050405020304" pitchFamily="18" charset="0"/>
                <a:cs typeface="Times New Roman" panose="02020603050405020304" pitchFamily="18" charset="0"/>
              </a:rPr>
              <a:t>timesteps  </a:t>
            </a:r>
            <a:r>
              <a:rPr lang="en-US" sz="22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 model</a:t>
            </a:r>
          </a:p>
          <a:p>
            <a:pPr marL="114300" indent="0">
              <a:buNone/>
            </a:pPr>
            <a:r>
              <a:rPr lang="en-US" sz="22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Week 8 — Evaluation: Run evaluate.py; generate bar charts (wait time / queue / reward) and reward convergence plot; compare all 3 conditions</a:t>
            </a:r>
          </a:p>
          <a:p>
            <a:pPr marL="114300" indent="0">
              <a:buNone/>
            </a:pPr>
            <a:r>
              <a:rPr lang="en-US" sz="22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Week 9 — Real-World Demo: Download Kaggle traffic video; run YOLOv8 on real footage; validate perception layer works on real cars</a:t>
            </a:r>
          </a:p>
          <a:p>
            <a:pPr marL="114300" indent="0">
              <a:buNone/>
            </a:pPr>
            <a:r>
              <a:rPr lang="en-US" sz="22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Week 10 — Final Submission: Record GUI demo video (Condition A vs C); complete project report; prepare final presentation</a:t>
            </a:r>
          </a:p>
          <a:p>
            <a:pPr marL="114300" indent="0">
              <a:buNone/>
            </a:pPr>
            <a:endParaRPr lang="en-US" sz="22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2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So Far:  A (Fixed-Time): wait=17.82s  |  B (PPO+TraCI): wait=2.47s  (−86%)  |  C: pending full training</a:t>
            </a:r>
          </a:p>
          <a:p>
            <a:pPr marL="0" indent="0">
              <a:buNone/>
            </a:pP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28/02/2026</a:t>
            </a:r>
            <a:endParaRPr dirty="0"/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5044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sz="4000" dirty="0"/>
              <a:t>    Expected Outcome</a:t>
            </a:r>
            <a:endParaRPr sz="4000" dirty="0"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buNone/>
            </a:pPr>
            <a:r>
              <a:rPr lang="en-US" sz="2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Primary Output: Adaptive traffic signal controller achieving ≥80% reduction in waiting time vs fixed-time baseline (Condition B already shows −86% wait, −54% queue, −84% reward)</a:t>
            </a:r>
          </a:p>
          <a:p>
            <a:pPr marL="114300" indent="0">
              <a:buNone/>
            </a:pPr>
            <a:r>
              <a:rPr lang="en-US" sz="20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SDG Mapping:</a:t>
            </a:r>
          </a:p>
          <a:p>
            <a:pPr marL="342900" indent="0">
              <a:buNone/>
            </a:pPr>
            <a:r>
              <a:rPr lang="en-US" sz="18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– SDG 11 — Sustainable Cities: Reduced urban congestion and commute times</a:t>
            </a:r>
          </a:p>
          <a:p>
            <a:pPr marL="342900" indent="0">
              <a:buNone/>
            </a:pPr>
            <a:r>
              <a:rPr lang="en-US" sz="18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– SDG 9 — Innovation &amp; Infrastructure: AI-driven smart traffic management</a:t>
            </a:r>
          </a:p>
          <a:p>
            <a:pPr marL="342900" indent="0">
              <a:buNone/>
            </a:pPr>
            <a:r>
              <a:rPr lang="en-US" sz="18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– SDG 13 — Climate Action: Reduced vehicle idling → lower CO₂ and fuel consumption</a:t>
            </a:r>
          </a:p>
          <a:p>
            <a:pPr marL="114300" indent="0">
              <a:buNone/>
            </a:pPr>
            <a:r>
              <a:rPr lang="en-US" sz="2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Publication Plan: Conference paper targeting IEEE ITSC 2026 (Intelligent Transportation Systems Conference)</a:t>
            </a:r>
          </a:p>
          <a:p>
            <a:pPr marL="114300" indent="0">
              <a:buNone/>
            </a:pPr>
            <a:r>
              <a:rPr lang="en-US" sz="2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Patent Potential: Modular perception-RL decoupled architecture applicable to any intersection type without agent retraining</a:t>
            </a:r>
          </a:p>
          <a:p>
            <a:pPr marL="0" indent="0">
              <a:buNone/>
            </a:pP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28/02/2026</a:t>
            </a:r>
            <a:endParaRPr dirty="0"/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1341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sz="4000" dirty="0"/>
              <a:t>    Conclusion</a:t>
            </a:r>
            <a:endParaRPr sz="4000" dirty="0"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buNone/>
            </a:pPr>
            <a:r>
              <a:rPr lang="en-US" sz="2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Proposed a PPO RL agent trained in SUMO — the standard, safe approach in traffic signal RL research</a:t>
            </a:r>
          </a:p>
          <a:p>
            <a:pPr marL="114300" indent="0">
              <a:buNone/>
            </a:pPr>
            <a:r>
              <a:rPr lang="en-US" sz="2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Key Result: Condition B achieves 86% reduction in waiting time and 54% reduction in queue length vs fixed-time baseline; validating effectiveness of adaptive control</a:t>
            </a:r>
          </a:p>
          <a:p>
            <a:pPr marL="114300" indent="0">
              <a:buNone/>
            </a:pPr>
            <a:r>
              <a:rPr lang="en-US" sz="2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Modular architecture enables real-world deployment by swapping only the perception module (HSV → YOLOv8) without modifying the RL agent or control logic</a:t>
            </a:r>
          </a:p>
          <a:p>
            <a:pPr marL="114300" indent="0">
              <a:buNone/>
            </a:pPr>
            <a:r>
              <a:rPr lang="en-US" sz="20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Future Scope:</a:t>
            </a:r>
          </a:p>
          <a:p>
            <a:pPr marL="342900" indent="0">
              <a:buNone/>
            </a:pPr>
            <a:r>
              <a:rPr lang="en-US" sz="18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– Calibrate SUMO routes with real traffic flow data to narrow the sim-to-real gap</a:t>
            </a:r>
          </a:p>
          <a:p>
            <a:pPr marL="342900" indent="0">
              <a:buNone/>
            </a:pPr>
            <a:r>
              <a:rPr lang="en-US" sz="18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– Extend to coordinated multi-intersection network control</a:t>
            </a:r>
          </a:p>
          <a:p>
            <a:pPr marL="342900" indent="0">
              <a:buNone/>
            </a:pPr>
            <a:r>
              <a:rPr lang="en-US" sz="18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– Edge deployment on NVIDIA Jetson / Raspberry Pi for on-device inference</a:t>
            </a:r>
          </a:p>
          <a:p>
            <a:pPr marL="0" indent="0">
              <a:buNone/>
            </a:pP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28/02/2026</a:t>
            </a:r>
            <a:endParaRPr dirty="0"/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2524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sz="4000" dirty="0"/>
              <a:t>    References</a:t>
            </a:r>
            <a:endParaRPr sz="4000" dirty="0"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US" sz="19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[1] Rasheed et al., “Adaptive Traffic Signal Control Using PPO in SUMO,” IEEE Trans. ITS, 2024.</a:t>
            </a:r>
          </a:p>
          <a:p>
            <a:pPr marL="114300" indent="0">
              <a:buNone/>
            </a:pPr>
            <a:r>
              <a:rPr lang="en-US" sz="19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[2] Liu et al., “Real-Time Traffic Density Estimation via YOLOv8,” Pattern Recognition Letters, 2024.</a:t>
            </a:r>
          </a:p>
          <a:p>
            <a:pPr marL="114300" indent="0">
              <a:buNone/>
            </a:pPr>
            <a:r>
              <a:rPr lang="en-US" sz="19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[3] Zhang et al., “Sim-to-Real Transfer in Traffic Signal RL,” Transportation Research Part C, 2025.</a:t>
            </a:r>
          </a:p>
          <a:p>
            <a:pPr marL="114300" indent="0">
              <a:buNone/>
            </a:pPr>
            <a:r>
              <a:rPr lang="en-US" sz="19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[4] Schulman et al., “Proximal Policy Optimization Algorithms,” arXiv:1707.06347, OpenAI, 2017.</a:t>
            </a:r>
          </a:p>
          <a:p>
            <a:pPr marL="114300" indent="0">
              <a:buNone/>
            </a:pPr>
            <a:r>
              <a:rPr lang="en-US" sz="19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[5] Ultralytics, “YOLOv8: Real-Time Object Detection,” github.com/ultralytics/ultralytics, 2023.</a:t>
            </a:r>
          </a:p>
          <a:p>
            <a:pPr marL="114300" indent="0">
              <a:buNone/>
            </a:pPr>
            <a:r>
              <a:rPr lang="en-US" sz="19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[6] Lopez et al., “Microscopic Traffic Simulation using SUMO,” IEEE ITSC, 2018.</a:t>
            </a:r>
          </a:p>
          <a:p>
            <a:pPr marL="114300" indent="0">
              <a:buNone/>
            </a:pPr>
            <a:r>
              <a:rPr lang="en-US" sz="19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[7] Raffin et al., “Stable-Baselines3: Reliable RL Implementations,” JMLR, 2021.</a:t>
            </a:r>
          </a:p>
          <a:p>
            <a:pPr marL="0" indent="0">
              <a:buNone/>
            </a:pP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28/02/2026</a:t>
            </a:r>
            <a:endParaRPr dirty="0"/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6981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1083</Words>
  <Application>Microsoft Office PowerPoint</Application>
  <PresentationFormat>On-screen Show (4:3)</PresentationFormat>
  <Paragraphs>111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Office Theme</vt:lpstr>
      <vt:lpstr>TRAFFIQ</vt:lpstr>
      <vt:lpstr>   Problem Statement</vt:lpstr>
      <vt:lpstr> Objectives</vt:lpstr>
      <vt:lpstr>  Literature Review</vt:lpstr>
      <vt:lpstr>    Proposed Methodology</vt:lpstr>
      <vt:lpstr>    Work Plan / Timeline</vt:lpstr>
      <vt:lpstr>    Expected Outcome</vt:lpstr>
      <vt:lpstr>    Conclusion</vt:lpstr>
      <vt:lpstr>   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&lt;Title of Project&gt;</dc:title>
  <dc:creator>Kevin</dc:creator>
  <cp:lastModifiedBy>Ekansh Lamba</cp:lastModifiedBy>
  <cp:revision>19</cp:revision>
  <dcterms:created xsi:type="dcterms:W3CDTF">2020-05-13T07:00:09Z</dcterms:created>
  <dcterms:modified xsi:type="dcterms:W3CDTF">2026-02-28T05:24:44Z</dcterms:modified>
</cp:coreProperties>
</file>
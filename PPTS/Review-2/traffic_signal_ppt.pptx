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DF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0FDFA"/>
                </a:solidFill>
                <a:latin typeface="Arial"/>
              </a:rPr>
              <a:t>Avg Waiting Time (seconds)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Waiting Time (s)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Fixed-Time (A)</c:v>
                  </c:pt>
                  <c:pt idx="1">
                    <c:v>PPO+TraCI (B)</c:v>
                  </c:pt>
                  <c:pt idx="2">
                    <c:v>PPO+CV (C)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17.824</c:v>
                </c:pt>
                <c:pt idx="1">
                  <c:v>2.469</c:v>
                </c:pt>
                <c:pt idx="2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0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0FDF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0FDFA"/>
                </a:solidFill>
                <a:latin typeface="Arial"/>
              </a:rPr>
              <a:t>Avg Queue Length (vehicles)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Queue Length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Fixed-Time (A)</c:v>
                  </c:pt>
                  <c:pt idx="1">
                    <c:v>PPO+TraCI (B)</c:v>
                  </c:pt>
                  <c:pt idx="2">
                    <c:v>PPO+CV (C)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1.421</c:v>
                </c:pt>
                <c:pt idx="1">
                  <c:v>0.658</c:v>
                </c:pt>
                <c:pt idx="2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20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548640"/>
            <a:ext cx="3200400" cy="32004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 — REVIEW II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 Optimization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Classical CV / YOLOv8 and PPO Reinforcement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 SUMO with Real-World Perception Validation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  |  21CSP302L — Minor Project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28th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822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Fixed-Time Signals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298448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blindly regardless of actual traffic load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unnecessary waiting even on empty roads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adapt to peak hours or incidents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fuel, increase emissions and driver stress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~25% of urban travel delay globally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3931920" cy="114300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04672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8961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achieved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103120"/>
            <a:ext cx="3931920" cy="114300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2103120"/>
            <a:ext cx="64008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194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029200" y="27614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Vehicles/episode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(PPO+CV)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401568"/>
            <a:ext cx="3931920" cy="114300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401568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4930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029200" y="40599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decisions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CCTV images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429768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778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8961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Simulation Environment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2618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4-arm synthetic intersection with TraCI control, 4-phase TLS and randomised vehicle routes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29768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8778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8961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Perception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26187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HSV+contour detection for SUMO sprites; YOLOv8 for real-world vehicle detection — only this layer changes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2103120"/>
            <a:ext cx="429768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1762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2194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Reinforcement Learning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5603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PPO agent with 200k timesteps to minimise waiting time and queue length across 3 experimental conditions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03120"/>
            <a:ext cx="429768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1762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32120" y="2194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32120" y="256032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3 conditions (Fixed-Time, PPO+TraCI, PPO+CV) on waiting time, queue length, throughput and reward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" y="3401568"/>
            <a:ext cx="877824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474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05840" y="349300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Perception Validation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858768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YOLO+ROI pipeline on 30 real CCTV images — agent makes decisions on real traffic conditions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3-Layer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834640" cy="33832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04672"/>
            <a:ext cx="2834640" cy="50292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804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Screenshot + HSV Detector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2487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Mode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CCTV Images + YOLOv8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017520" y="2286000"/>
            <a:ext cx="155448" cy="36576"/>
          </a:xfrm>
          <a:prstGeom prst="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804672"/>
            <a:ext cx="2834640" cy="33832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804672"/>
            <a:ext cx="2834640" cy="5029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82696" y="804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82696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BRAIN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10128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0128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Optimisation (PPO)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0128" y="2487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normalised float32 features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07608" y="2286000"/>
            <a:ext cx="155448" cy="36576"/>
          </a:xfrm>
          <a:prstGeom prst="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3056" y="804672"/>
            <a:ext cx="2834640" cy="33832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804672"/>
            <a:ext cx="2834640" cy="50292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804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72784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0216" y="1481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0216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 API → SUMO-GUI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300216" y="2487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0216" y="2743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Discrete(4) — 4 signal phases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82880" y="4315968"/>
            <a:ext cx="8778240" cy="502920"/>
          </a:xfrm>
          <a:prstGeom prst="rect">
            <a:avLst/>
          </a:prstGeom>
          <a:solidFill>
            <a:srgbClr val="1E3A4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4315968"/>
            <a:ext cx="64008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1596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03120" y="43159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Layer 1 changes between SUMO training and real-world deployment. Layers 2 and 3 remain completely unchanged.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41248"/>
            <a:ext cx="4251960" cy="169164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41248"/>
            <a:ext cx="4251960" cy="438912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4124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34416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1.25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 API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randomTrips.py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841248"/>
            <a:ext cx="4251960" cy="169164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41248"/>
            <a:ext cx="4251960" cy="438912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4124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Framework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34416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Algorithm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Wrapper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82880" y="2761488"/>
            <a:ext cx="4251960" cy="169164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2880" y="2761488"/>
            <a:ext cx="4251960" cy="438912"/>
          </a:xfrm>
          <a:prstGeom prst="rect">
            <a:avLst/>
          </a:prstGeom>
          <a:solidFill>
            <a:srgbClr val="14B8A6">
              <a:alpha val="7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614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" y="326440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(HSV+Contour)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(Ultralytics)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Roboflow Dataset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2761488"/>
            <a:ext cx="4251960" cy="169164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61488"/>
            <a:ext cx="4251960" cy="438912"/>
          </a:xfrm>
          <a:prstGeom prst="rect">
            <a:avLst/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7614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Tools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326440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Matplotlib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82880" y="461772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YOLOv8 is used ONLY for real-world inference. SUMO sprites (5-10px yellow triangles) require Classical HSV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Design — 3 Conditions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04672"/>
            <a:ext cx="2834640" cy="397764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04672"/>
            <a:ext cx="2834640" cy="914400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841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097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 Baseline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847088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phases 0→1→2→3 every 30 decisions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perception — completely blind to traffic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for comparison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743200"/>
            <a:ext cx="15544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804672"/>
            <a:ext cx="2834640" cy="397764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804672"/>
            <a:ext cx="2834640" cy="914400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841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82696" y="1097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TraCI Ground Truth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1847088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from TraCI directly (perfect ground truth)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training, 200k timesteps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performance — no perception noise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07608" y="2743200"/>
            <a:ext cx="155448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804672"/>
            <a:ext cx="2834640" cy="397764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804672"/>
            <a:ext cx="2834640" cy="91440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841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 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72784" y="1097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Classical CV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0216" y="1847088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from HSV+Contour detector (screenshots)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mode — agent sees what camera sees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real deployment scenario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" y="464515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conditions use the SAME reward function: −(total_waiting_time + total_queue_length) from TraCI ground truth.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Simulation Setup &amp; PPO Configuration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4206240" cy="397764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22960"/>
            <a:ext cx="4206240" cy="38404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NETWORK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98448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4-arm intersection — 5 nodes (center + N/S/E/W)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directed edges — numLanes=1, speed=50 km/h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TLS: NS-Straight → NS-Turn → EW-Straight → EW-Turn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phase = 3s per transition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randomTrips seed=42, duration=3600s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max_steps=300 (300 × 10s = 3000 sim seconds)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'center' at SUMO coords (200, 200)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297680" cy="397764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429768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CONFIGURATION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298448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Proximal Policy Optimisation (PPO)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timesteps: 200,000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space: 6 normalised float32 features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space: Discrete(4) signal phases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−(wait_time + queue_length)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[lane1, lane2, lane3, lane4, phase_norm, est_wait]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Stable-Baselines3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Layer — Classical CV vs YOLOv8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4206240" cy="329184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22960"/>
            <a:ext cx="4206240" cy="38404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CV — SUMO TRAINING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298448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thresholding for yellow sprites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yellow_lower=(20,100,100)  upper=(30,255,255)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cleanup: CLOSE + OPEN, 3×3 kernel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detection, min_area=50px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calibrated ROI zones from roi_config.json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5-10px yellow triangular SUMO vehicles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41879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YOLO for SUMO?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389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SUMO sprites are 5-10px yellow triangles — YOLO detects 0 vehicles.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297680" cy="329184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22960"/>
            <a:ext cx="4297680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— REAL WORLD INFERENCE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298448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YOLOv8s (small — better than nano)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threshold: 0.25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[2,3,5,7] = car, motorcycle, bus, truck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calibrated ROI zones drawn via roi_calibrator.html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CountNormalizer maps real counts → SUMO range (0-1)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10-17 real vehicles per CCTV image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418795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Calibration Tool Built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drag-to-draw tool generates get_rois() code — pixel-perfect coordinates.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— All 3 Conditions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182880" y="804672"/>
          <a:ext cx="42062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4709160" y="804672"/>
          <a:ext cx="4251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246120"/>
          <a:ext cx="8778240" cy="155448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1737360"/>
                <a:gridCol w="1737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Fixed-Time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PPO+TraCI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9F6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PPO+CV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(C vs 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Waiting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17.824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2.469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−97.2%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Queue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−64.8%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 vehicles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+107 vehicles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 Reward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−19,245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−3,127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0FD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−12,928**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182880" y="4828032"/>
            <a:ext cx="8778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Throughput counter bug in Conditions A &amp; B (known, documented)   ** Demo reward uses different measurement path — both are valid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Results — record_demo.py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episode head-to-head comparison (Condition A vs Condition C)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170432"/>
            <a:ext cx="283464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3533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5.025 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 Waiting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72968" y="1170432"/>
            <a:ext cx="283464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0128" y="13533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2.333 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10128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PPO+CV Waiting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63056" y="1170432"/>
            <a:ext cx="283464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0216" y="13533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−53.6%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00216" y="21762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Reduction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2880" y="2999232"/>
            <a:ext cx="283464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1821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vehicles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20040" y="40050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 Throughput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72968" y="2999232"/>
            <a:ext cx="283464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10128" y="31821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vehicles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10128" y="40050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PPO+CV Throughput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63056" y="2999232"/>
            <a:ext cx="2834640" cy="155448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0216" y="3182112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+30.5%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300216" y="40050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" y="475488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command: python demo/record_demo.py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— Real-World Perception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" y="822960"/>
            <a:ext cx="132588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(OpenCV)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90472" y="1170432"/>
            <a:ext cx="16459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55064" y="822960"/>
            <a:ext cx="132588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00784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80944" y="1170432"/>
            <a:ext cx="16459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822960"/>
            <a:ext cx="132588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91256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Zone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71416" y="1170432"/>
            <a:ext cx="16459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6008" y="822960"/>
            <a:ext cx="132588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81728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61888" y="1170432"/>
            <a:ext cx="16459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822960"/>
            <a:ext cx="132588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Phase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52360" y="1170432"/>
            <a:ext cx="164592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16952" y="822960"/>
            <a:ext cx="1325880" cy="822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62672" y="8229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05672" y="1170432"/>
            <a:ext cx="0" cy="0"/>
          </a:xfrm>
          <a:prstGeom prst="rect">
            <a:avLst/>
          </a:prstGeom>
          <a:noFill/>
          <a:ln/>
        </p:spPr>
      </p:sp>
      <p:sp>
        <p:nvSpPr>
          <p:cNvPr id="25" name="Shape 23"/>
          <p:cNvSpPr/>
          <p:nvPr/>
        </p:nvSpPr>
        <p:spPr>
          <a:xfrm>
            <a:off x="182880" y="1847088"/>
            <a:ext cx="4251960" cy="118872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1847088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19385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84048" y="25968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images processed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63440" y="1847088"/>
            <a:ext cx="4251960" cy="118872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847088"/>
            <a:ext cx="64008" cy="1188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93852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13.63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864608" y="25968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vehicles detected per image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82880" y="3264408"/>
            <a:ext cx="4251960" cy="118872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3264408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3558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384048" y="40142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made smarter decision than fixed-time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3264408"/>
            <a:ext cx="4251960" cy="118872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264408"/>
            <a:ext cx="6400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33558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4864608" y="40142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confidence threshold used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82880" y="473659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Roboflow Traffic Intersection Vehicle Detection — fixed elevated CCTV camera, angled view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Results — Interpretation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8778240" cy="1234440"/>
          </a:xfrm>
          <a:prstGeom prst="rect">
            <a:avLst/>
          </a:prstGeom>
          <a:solidFill>
            <a:srgbClr val="1A2F4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2296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686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PPO consistently selects NS-Turn across all 30 images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bug — it is correct, explainable behaviour.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2212848"/>
            <a:ext cx="685800" cy="475488"/>
          </a:xfrm>
          <a:prstGeom prst="rect">
            <a:avLst/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221284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2585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Roboflow CCTV dataset has dominant NS traffic — lane_1 consistently has 8-14 vehicles. Other lanes have 1-3.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82880" y="2834640"/>
            <a:ext cx="685800" cy="475488"/>
          </a:xfrm>
          <a:prstGeom prst="rect">
            <a:avLst/>
          </a:prstGeom>
          <a:solidFill>
            <a:srgbClr val="14B8A6">
              <a:alpha val="7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834640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2880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PPO agent correctly identifies the busiest direction and prioritises it — exactly what a smart controller should do.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82880" y="3456432"/>
            <a:ext cx="685800" cy="475488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345643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35021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 cycling ignores traffic load completely and rotates through all phases regardless of conditions.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82880" y="4078224"/>
            <a:ext cx="685800" cy="475488"/>
          </a:xfrm>
          <a:prstGeom prst="rect">
            <a:avLst/>
          </a:prstGeom>
          <a:solidFill>
            <a:srgbClr val="94A3B8">
              <a:alpha val="75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07822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412394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sim-to-real gap in RL policy transfer is identified as future work — the standard approach in all traffic RL research.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E3A4C"/>
          </a:solidFill>
          <a:ln w="12700">
            <a:solidFill>
              <a:srgbClr val="1E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88696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Dynamic Traffic Signal Optimization  |  SRM Institute of Science and Technology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22960"/>
            <a:ext cx="4206240" cy="397764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822960"/>
            <a:ext cx="420624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98448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Single-lane 4-arm intersection only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traffic — uniform random trips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 in RL policy transfer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signal hardware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mismatch between conditions (A/B: 1000, C: 300)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metric bug in Conditions A &amp; 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297680" cy="3977640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4297680" cy="384048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229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298448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SUMO routes with real traffic flow data from sensors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randomisation during training for policy robustness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Multi-lane and multi-intersection coordination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 integration (Raspberry Pi + GPIO)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YOLO on aerial/overhead footage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with reward shaping on real data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Proved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658368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17320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 reduced waiting time by 97.2% and increased throughput from 0 to 107 vehicles vs fixed-time baseline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8595360" cy="658368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2199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2199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26771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3-layer architecture cleanly separates perception from decision-making — only Layer 1 changes for real deployment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026664"/>
            <a:ext cx="8595360" cy="658368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26664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2666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07238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HSV detection handles SUMO sprites perfectly; YOLOv8 handles real CCTV footage with 13.6 avg detections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3831336"/>
            <a:ext cx="8595360" cy="658368"/>
          </a:xfrm>
          <a:prstGeom prst="rect">
            <a:avLst/>
          </a:prstGeom>
          <a:solidFill>
            <a:srgbClr val="13203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31336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313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87705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D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 on 30 CCTV images — PPO made smarter signal decisions than fixed-time in 66.7% of cases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  |  21CSP302L Minor Project  |  28th March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Vision-Based Dynamic Traffic Signal Optimization</dc:title>
  <dc:subject>PptxGenJS Presentation</dc:subject>
  <dc:creator>PptxGenJS</dc:creator>
  <cp:lastModifiedBy>PptxGenJS</cp:lastModifiedBy>
  <cp:revision>1</cp:revision>
  <dcterms:created xsi:type="dcterms:W3CDTF">2026-03-27T10:44:12Z</dcterms:created>
  <dcterms:modified xsi:type="dcterms:W3CDTF">2026-03-27T10:44:12Z</dcterms:modified>
</cp:coreProperties>
</file>